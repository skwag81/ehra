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2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14A79-9C03-4BA4-A446-B9CCE5527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33DE9B-2F23-40EA-9110-DEC6249FE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F942D-5E5A-492C-B02A-62302675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3F8AD2-922D-47B5-BFFE-9D91D947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D0EE8-E1ED-4652-A2E6-C111C28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83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AA5C2-889F-4CDC-9E1E-1B09BE94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78B8C-2852-4DF1-AD42-DAD7215E0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5980C-75BE-4FC3-AE82-6104E1B8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61535-7896-4CCC-ADEC-FFBDE613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CB2C8-BD2C-44FE-A1BC-C09E11CC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30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9CA50-FCD2-49A6-AE05-E6B5B184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2D23FB-FD6F-45C0-AB28-0B805CEE5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7EE22-7438-477C-894C-747FEDB0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1DCF1-AD44-4335-B57D-FDD0836BF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5CB9F-6DBA-444E-8F63-25800950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8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41CCC-5C4D-4DC2-A221-56FA1F4F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595BBA-C425-4EE7-9A00-CFCDD1B72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D62D2B-6128-4001-BEE0-D2E0663A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FDE232-CD1A-4115-B6F5-7065221B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89791-8A7D-4B6E-AD91-C244A733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207223-597B-4238-B2C2-46409CCC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5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BA65D-829B-404A-B81A-1400A84A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E4F44-E40B-4D66-8964-202E6CC6A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3A76C4-55A2-43FF-93DE-817A92B61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5AFB91-63A1-4D10-831C-DCAD70858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83D1B3-5A2A-4259-BEF1-65FA90BB3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89DBC8-E3A0-4C50-9D0E-C9DAD259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37DC59-AF7D-46C3-A553-AF7E3382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5A3968-71A7-4EA8-A97C-10023B01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3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427F7-E7D2-4948-91E0-F931AFE2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B18E24-A314-422D-8155-EE269170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FFE23-2769-4232-9F30-F6E7352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2F57E7-EE92-4BD9-BDDE-3D6A4575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1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D7B8F2-B5EE-49C4-B842-DA46AC23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D97585-8ADB-48BF-A903-B09B88CA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C12AA5-9BEC-4F3F-80EE-86D30141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25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BF9D-88E4-46CC-ADC5-A1FF0E7A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C40196-B74A-4BE9-BF1B-A256D457E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DB9596-2AC2-4511-A367-C548FEDCD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FEB35C-5541-4312-B609-FE2376D8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225EC4-DDF6-4F70-8A01-992239F3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286CF6-205E-41B5-9B8D-08B692EC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7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A3036-16FD-41CC-A5ED-C89D3808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3D1DE2-A156-4FAA-B227-4D59CD0CD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DFDC9F-41D6-4063-802D-40138D1E4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268BBF-91CA-4A00-A445-2ADA0213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DE26F5-2D84-4627-B811-CDB44D09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4A535-FE09-42AE-8949-94AF990E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92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C0C87-4314-4FB6-B24F-F0C45C96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FC9135-16BD-445A-A08D-85F1F562D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06B46A-9EE7-4B58-BAA2-334E8DE9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DEC-A873-409A-B84B-E882597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5C9B5E-481A-4CCE-8241-BF9F61B0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06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FCFC99-0A66-4940-8525-F931780DE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0B4446-4C2F-466F-A669-12CBFC63D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635FA-CFC9-4B52-B9A9-80E2D0F6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BF1F5-42D3-471C-A95B-98562F38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E800F-8B73-48ED-9F56-6105A25E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95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6CCAEC-3C0C-4188-A088-9E6D3DDC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80987-0E48-4855-9A5F-E6A7D8C8E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62FC0-40EF-4D6A-A04C-221AEDAC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9FAE7-55A5-40ED-9164-D8D909E47607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B4C11-5748-40DB-B0B3-A09CA030D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6636C-D164-4F4E-920C-4F8EE6E4D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40EA1-242A-42F1-B681-2280B92EB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86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A609ECD9-328D-4A56-A40C-F17D4C027D55}"/>
              </a:ext>
            </a:extLst>
          </p:cNvPr>
          <p:cNvSpPr txBox="1"/>
          <p:nvPr/>
        </p:nvSpPr>
        <p:spPr>
          <a:xfrm>
            <a:off x="4552768" y="871010"/>
            <a:ext cx="2314784" cy="2561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484848"/>
                </a:solidFill>
                <a:latin typeface="Roboto"/>
              </a:rPr>
              <a:t>EHRA Program Modules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BD14E16-2472-45BD-9702-2B6D543BDA7E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EHRA Structure</a:t>
            </a:r>
            <a:endParaRPr lang="ko-KR" altLang="en-US" sz="1400" b="1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39BF052-7469-46FF-91BB-A7881714FE4A}"/>
              </a:ext>
            </a:extLst>
          </p:cNvPr>
          <p:cNvGrpSpPr/>
          <p:nvPr/>
        </p:nvGrpSpPr>
        <p:grpSpPr>
          <a:xfrm>
            <a:off x="3091893" y="2042972"/>
            <a:ext cx="5651715" cy="3788669"/>
            <a:chOff x="1729623" y="2052302"/>
            <a:chExt cx="5651715" cy="3788669"/>
          </a:xfrm>
        </p:grpSpPr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4A8E86B3-CA91-467F-8A8D-E3B344BC70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1" t="1498" b="3052"/>
            <a:stretch/>
          </p:blipFill>
          <p:spPr>
            <a:xfrm>
              <a:off x="1729623" y="3205071"/>
              <a:ext cx="1289143" cy="1001439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61C3D19-3676-4522-A0CF-AA68F400B0CE}"/>
                </a:ext>
              </a:extLst>
            </p:cNvPr>
            <p:cNvGrpSpPr/>
            <p:nvPr/>
          </p:nvGrpSpPr>
          <p:grpSpPr>
            <a:xfrm>
              <a:off x="3882466" y="5148647"/>
              <a:ext cx="111015" cy="371474"/>
              <a:chOff x="2813816" y="4721762"/>
              <a:chExt cx="111015" cy="371474"/>
            </a:xfrm>
          </p:grpSpPr>
          <p:sp>
            <p:nvSpPr>
              <p:cNvPr id="5" name="Rounded Rectangle 1">
                <a:extLst>
                  <a:ext uri="{FF2B5EF4-FFF2-40B4-BE49-F238E27FC236}">
                    <a16:creationId xmlns:a16="http://schemas.microsoft.com/office/drawing/2014/main" id="{CADE20EA-A792-409E-94AA-84613CE22A10}"/>
                  </a:ext>
                </a:extLst>
              </p:cNvPr>
              <p:cNvSpPr/>
              <p:nvPr/>
            </p:nvSpPr>
            <p:spPr>
              <a:xfrm>
                <a:off x="2869324" y="4721762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2">
                <a:extLst>
                  <a:ext uri="{FF2B5EF4-FFF2-40B4-BE49-F238E27FC236}">
                    <a16:creationId xmlns:a16="http://schemas.microsoft.com/office/drawing/2014/main" id="{26A05CB1-23B1-4E3E-9A1F-726D345BA427}"/>
                  </a:ext>
                </a:extLst>
              </p:cNvPr>
              <p:cNvSpPr/>
              <p:nvPr/>
            </p:nvSpPr>
            <p:spPr>
              <a:xfrm>
                <a:off x="2813816" y="5037729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82105D-BBB6-4F38-A490-762BCF16F719}"/>
                </a:ext>
              </a:extLst>
            </p:cNvPr>
            <p:cNvGrpSpPr/>
            <p:nvPr/>
          </p:nvGrpSpPr>
          <p:grpSpPr>
            <a:xfrm>
              <a:off x="4087418" y="5195948"/>
              <a:ext cx="111015" cy="371475"/>
              <a:chOff x="3018768" y="4769063"/>
              <a:chExt cx="111015" cy="371475"/>
            </a:xfrm>
          </p:grpSpPr>
          <p:sp>
            <p:nvSpPr>
              <p:cNvPr id="8" name="Rounded Rectangle 4">
                <a:extLst>
                  <a:ext uri="{FF2B5EF4-FFF2-40B4-BE49-F238E27FC236}">
                    <a16:creationId xmlns:a16="http://schemas.microsoft.com/office/drawing/2014/main" id="{D8BDE36C-50C8-46BD-BC69-605D87730CC6}"/>
                  </a:ext>
                </a:extLst>
              </p:cNvPr>
              <p:cNvSpPr/>
              <p:nvPr/>
            </p:nvSpPr>
            <p:spPr>
              <a:xfrm>
                <a:off x="3074275" y="4769063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Rounded Rectangle 5">
                <a:extLst>
                  <a:ext uri="{FF2B5EF4-FFF2-40B4-BE49-F238E27FC236}">
                    <a16:creationId xmlns:a16="http://schemas.microsoft.com/office/drawing/2014/main" id="{408D2B1F-673B-488A-B0ED-1722F8EFCBC2}"/>
                  </a:ext>
                </a:extLst>
              </p:cNvPr>
              <p:cNvSpPr/>
              <p:nvPr/>
            </p:nvSpPr>
            <p:spPr>
              <a:xfrm>
                <a:off x="3018768" y="5085031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Rounded Rectangle 7">
              <a:extLst>
                <a:ext uri="{FF2B5EF4-FFF2-40B4-BE49-F238E27FC236}">
                  <a16:creationId xmlns:a16="http://schemas.microsoft.com/office/drawing/2014/main" id="{2AADB9A0-4826-4E06-9CCE-3C9250814C01}"/>
                </a:ext>
              </a:extLst>
            </p:cNvPr>
            <p:cNvSpPr/>
            <p:nvPr/>
          </p:nvSpPr>
          <p:spPr>
            <a:xfrm>
              <a:off x="4757781" y="5148713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ounded Rectangle 8">
              <a:extLst>
                <a:ext uri="{FF2B5EF4-FFF2-40B4-BE49-F238E27FC236}">
                  <a16:creationId xmlns:a16="http://schemas.microsoft.com/office/drawing/2014/main" id="{AF2AB737-5C46-4343-8035-226CF13A0564}"/>
                </a:ext>
              </a:extLst>
            </p:cNvPr>
            <p:cNvSpPr/>
            <p:nvPr/>
          </p:nvSpPr>
          <p:spPr>
            <a:xfrm>
              <a:off x="4552829" y="5195948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ounded Rectangle 9">
              <a:extLst>
                <a:ext uri="{FF2B5EF4-FFF2-40B4-BE49-F238E27FC236}">
                  <a16:creationId xmlns:a16="http://schemas.microsoft.com/office/drawing/2014/main" id="{B2805CED-CC66-4DB3-BB88-E9EA1EFE170E}"/>
                </a:ext>
              </a:extLst>
            </p:cNvPr>
            <p:cNvSpPr/>
            <p:nvPr/>
          </p:nvSpPr>
          <p:spPr>
            <a:xfrm>
              <a:off x="4347877" y="5243250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10">
              <a:extLst>
                <a:ext uri="{FF2B5EF4-FFF2-40B4-BE49-F238E27FC236}">
                  <a16:creationId xmlns:a16="http://schemas.microsoft.com/office/drawing/2014/main" id="{E8EED300-DDF0-43BD-862F-059E45DED858}"/>
                </a:ext>
              </a:extLst>
            </p:cNvPr>
            <p:cNvSpPr/>
            <p:nvPr/>
          </p:nvSpPr>
          <p:spPr>
            <a:xfrm>
              <a:off x="3015691" y="4577157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2664372" y="256189"/>
                  </a:moveTo>
                  <a:lnTo>
                    <a:pt x="2664372" y="358665"/>
                  </a:lnTo>
                  <a:lnTo>
                    <a:pt x="1332186" y="666093"/>
                  </a:lnTo>
                  <a:lnTo>
                    <a:pt x="0" y="358665"/>
                  </a:lnTo>
                  <a:lnTo>
                    <a:pt x="0" y="256189"/>
                  </a:ln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solidFill>
              <a:srgbClr val="00B050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1">
              <a:extLst>
                <a:ext uri="{FF2B5EF4-FFF2-40B4-BE49-F238E27FC236}">
                  <a16:creationId xmlns:a16="http://schemas.microsoft.com/office/drawing/2014/main" id="{907DF5D3-3753-4A3F-99C1-1CFF3DB9AE38}"/>
                </a:ext>
              </a:extLst>
            </p:cNvPr>
            <p:cNvSpPr/>
            <p:nvPr/>
          </p:nvSpPr>
          <p:spPr>
            <a:xfrm>
              <a:off x="3015691" y="4577157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0" y="256189"/>
                  </a:moveTo>
                  <a:lnTo>
                    <a:pt x="0" y="358665"/>
                  </a:lnTo>
                  <a:lnTo>
                    <a:pt x="1332186" y="666093"/>
                  </a:lnTo>
                  <a:lnTo>
                    <a:pt x="2664372" y="358665"/>
                  </a:lnTo>
                  <a:lnTo>
                    <a:pt x="2664372" y="256189"/>
                  </a:lnTo>
                  <a:moveTo>
                    <a:pt x="2664372" y="256189"/>
                  </a:moveTo>
                  <a:lnTo>
                    <a:pt x="1331941" y="563617"/>
                  </a:lnTo>
                  <a:lnTo>
                    <a:pt x="0" y="256189"/>
                  </a:lnTo>
                  <a:moveTo>
                    <a:pt x="0" y="256189"/>
                  </a:move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noFill/>
            <a:ln w="1280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A6006AF-0D44-407E-A1CB-EA6CE4C19C8C}"/>
                </a:ext>
              </a:extLst>
            </p:cNvPr>
            <p:cNvGrpSpPr/>
            <p:nvPr/>
          </p:nvGrpSpPr>
          <p:grpSpPr>
            <a:xfrm>
              <a:off x="3677514" y="4486490"/>
              <a:ext cx="111015" cy="371474"/>
              <a:chOff x="2608864" y="4059605"/>
              <a:chExt cx="111015" cy="371474"/>
            </a:xfrm>
          </p:grpSpPr>
          <p:sp>
            <p:nvSpPr>
              <p:cNvPr id="16" name="Rounded Rectangle 12">
                <a:extLst>
                  <a:ext uri="{FF2B5EF4-FFF2-40B4-BE49-F238E27FC236}">
                    <a16:creationId xmlns:a16="http://schemas.microsoft.com/office/drawing/2014/main" id="{BEA05534-55F3-4A8C-87AE-4AD5F8BB8CDB}"/>
                  </a:ext>
                </a:extLst>
              </p:cNvPr>
              <p:cNvSpPr/>
              <p:nvPr/>
            </p:nvSpPr>
            <p:spPr>
              <a:xfrm>
                <a:off x="2664372" y="4059605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ounded Rectangle 13">
                <a:extLst>
                  <a:ext uri="{FF2B5EF4-FFF2-40B4-BE49-F238E27FC236}">
                    <a16:creationId xmlns:a16="http://schemas.microsoft.com/office/drawing/2014/main" id="{F2493853-5D30-4F54-9BCD-44CC22FBD1AA}"/>
                  </a:ext>
                </a:extLst>
              </p:cNvPr>
              <p:cNvSpPr/>
              <p:nvPr/>
            </p:nvSpPr>
            <p:spPr>
              <a:xfrm>
                <a:off x="2608864" y="4375572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08659AF-9958-43B5-BAB4-DBC27333ECA3}"/>
                </a:ext>
              </a:extLst>
            </p:cNvPr>
            <p:cNvGrpSpPr/>
            <p:nvPr/>
          </p:nvGrpSpPr>
          <p:grpSpPr>
            <a:xfrm>
              <a:off x="3882466" y="4533791"/>
              <a:ext cx="111015" cy="371475"/>
              <a:chOff x="2813816" y="4106906"/>
              <a:chExt cx="111015" cy="371475"/>
            </a:xfrm>
          </p:grpSpPr>
          <p:sp>
            <p:nvSpPr>
              <p:cNvPr id="19" name="Rounded Rectangle 15">
                <a:extLst>
                  <a:ext uri="{FF2B5EF4-FFF2-40B4-BE49-F238E27FC236}">
                    <a16:creationId xmlns:a16="http://schemas.microsoft.com/office/drawing/2014/main" id="{97580A71-F02C-429E-B9E2-440AF61E62BC}"/>
                  </a:ext>
                </a:extLst>
              </p:cNvPr>
              <p:cNvSpPr/>
              <p:nvPr/>
            </p:nvSpPr>
            <p:spPr>
              <a:xfrm>
                <a:off x="2869324" y="4106906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ounded Rectangle 16">
                <a:extLst>
                  <a:ext uri="{FF2B5EF4-FFF2-40B4-BE49-F238E27FC236}">
                    <a16:creationId xmlns:a16="http://schemas.microsoft.com/office/drawing/2014/main" id="{1E839B16-25C3-401E-B517-4719DE2E68AB}"/>
                  </a:ext>
                </a:extLst>
              </p:cNvPr>
              <p:cNvSpPr/>
              <p:nvPr/>
            </p:nvSpPr>
            <p:spPr>
              <a:xfrm>
                <a:off x="2813816" y="4422874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2501B63-227B-4FE6-9A96-4662133D73CD}"/>
                </a:ext>
              </a:extLst>
            </p:cNvPr>
            <p:cNvGrpSpPr/>
            <p:nvPr/>
          </p:nvGrpSpPr>
          <p:grpSpPr>
            <a:xfrm>
              <a:off x="4087418" y="4581093"/>
              <a:ext cx="111015" cy="371474"/>
              <a:chOff x="3018768" y="4154208"/>
              <a:chExt cx="111015" cy="371474"/>
            </a:xfrm>
          </p:grpSpPr>
          <p:sp>
            <p:nvSpPr>
              <p:cNvPr id="22" name="Rounded Rectangle 18">
                <a:extLst>
                  <a:ext uri="{FF2B5EF4-FFF2-40B4-BE49-F238E27FC236}">
                    <a16:creationId xmlns:a16="http://schemas.microsoft.com/office/drawing/2014/main" id="{87EA4B09-E61F-454E-B9CB-81BE7B34925C}"/>
                  </a:ext>
                </a:extLst>
              </p:cNvPr>
              <p:cNvSpPr/>
              <p:nvPr/>
            </p:nvSpPr>
            <p:spPr>
              <a:xfrm>
                <a:off x="3074275" y="4154208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19">
                <a:extLst>
                  <a:ext uri="{FF2B5EF4-FFF2-40B4-BE49-F238E27FC236}">
                    <a16:creationId xmlns:a16="http://schemas.microsoft.com/office/drawing/2014/main" id="{D2D17A93-F756-4D2F-91D9-700BA1E7FC8D}"/>
                  </a:ext>
                </a:extLst>
              </p:cNvPr>
              <p:cNvSpPr/>
              <p:nvPr/>
            </p:nvSpPr>
            <p:spPr>
              <a:xfrm>
                <a:off x="3018768" y="4470175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D5A52B08-C704-48F3-B203-6F3AE453FE24}"/>
                </a:ext>
              </a:extLst>
            </p:cNvPr>
            <p:cNvSpPr/>
            <p:nvPr/>
          </p:nvSpPr>
          <p:spPr>
            <a:xfrm>
              <a:off x="4962732" y="4486557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ounded Rectangle 22">
              <a:extLst>
                <a:ext uri="{FF2B5EF4-FFF2-40B4-BE49-F238E27FC236}">
                  <a16:creationId xmlns:a16="http://schemas.microsoft.com/office/drawing/2014/main" id="{499145DB-5BB4-4E1F-AAA2-A857167B79D2}"/>
                </a:ext>
              </a:extLst>
            </p:cNvPr>
            <p:cNvSpPr/>
            <p:nvPr/>
          </p:nvSpPr>
          <p:spPr>
            <a:xfrm>
              <a:off x="4757781" y="4533858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ounded Rectangle 23">
              <a:extLst>
                <a:ext uri="{FF2B5EF4-FFF2-40B4-BE49-F238E27FC236}">
                  <a16:creationId xmlns:a16="http://schemas.microsoft.com/office/drawing/2014/main" id="{F5D85F2A-2E31-4C54-946B-95E3449319C6}"/>
                </a:ext>
              </a:extLst>
            </p:cNvPr>
            <p:cNvSpPr/>
            <p:nvPr/>
          </p:nvSpPr>
          <p:spPr>
            <a:xfrm>
              <a:off x="4552829" y="4581093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ounded Rectangle 24">
              <a:extLst>
                <a:ext uri="{FF2B5EF4-FFF2-40B4-BE49-F238E27FC236}">
                  <a16:creationId xmlns:a16="http://schemas.microsoft.com/office/drawing/2014/main" id="{496FE3A9-74EE-4E2D-8C42-6B2351BC8913}"/>
                </a:ext>
              </a:extLst>
            </p:cNvPr>
            <p:cNvSpPr/>
            <p:nvPr/>
          </p:nvSpPr>
          <p:spPr>
            <a:xfrm>
              <a:off x="4347877" y="4628395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ounded Rectangle 25">
              <a:extLst>
                <a:ext uri="{FF2B5EF4-FFF2-40B4-BE49-F238E27FC236}">
                  <a16:creationId xmlns:a16="http://schemas.microsoft.com/office/drawing/2014/main" id="{451F242A-2A03-47B4-B3EB-EFF209528785}"/>
                </a:ext>
              </a:extLst>
            </p:cNvPr>
            <p:cNvSpPr/>
            <p:nvPr/>
          </p:nvSpPr>
          <p:spPr>
            <a:xfrm>
              <a:off x="3015691" y="3962302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2664372" y="256189"/>
                  </a:moveTo>
                  <a:lnTo>
                    <a:pt x="2664372" y="358665"/>
                  </a:lnTo>
                  <a:lnTo>
                    <a:pt x="1332186" y="666093"/>
                  </a:lnTo>
                  <a:lnTo>
                    <a:pt x="0" y="358665"/>
                  </a:lnTo>
                  <a:lnTo>
                    <a:pt x="0" y="256189"/>
                  </a:ln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solidFill>
              <a:srgbClr val="FF0000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ounded Rectangle 26">
              <a:extLst>
                <a:ext uri="{FF2B5EF4-FFF2-40B4-BE49-F238E27FC236}">
                  <a16:creationId xmlns:a16="http://schemas.microsoft.com/office/drawing/2014/main" id="{A95EC063-CE6C-4209-B63F-2EF83A8DD7F1}"/>
                </a:ext>
              </a:extLst>
            </p:cNvPr>
            <p:cNvSpPr/>
            <p:nvPr/>
          </p:nvSpPr>
          <p:spPr>
            <a:xfrm>
              <a:off x="3015691" y="3962302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0" y="256189"/>
                  </a:moveTo>
                  <a:lnTo>
                    <a:pt x="0" y="358665"/>
                  </a:lnTo>
                  <a:lnTo>
                    <a:pt x="1332186" y="666093"/>
                  </a:lnTo>
                  <a:lnTo>
                    <a:pt x="2664372" y="358665"/>
                  </a:lnTo>
                  <a:lnTo>
                    <a:pt x="2664372" y="256189"/>
                  </a:lnTo>
                  <a:moveTo>
                    <a:pt x="2664372" y="256189"/>
                  </a:moveTo>
                  <a:lnTo>
                    <a:pt x="1331941" y="563617"/>
                  </a:lnTo>
                  <a:lnTo>
                    <a:pt x="0" y="256189"/>
                  </a:lnTo>
                  <a:moveTo>
                    <a:pt x="0" y="256189"/>
                  </a:move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solidFill>
              <a:srgbClr val="FF0000">
                <a:alpha val="97000"/>
              </a:srgbClr>
            </a:solidFill>
            <a:ln w="1280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8D7CB78-C07C-4C47-8E3C-1E60FCDE3F9E}"/>
                </a:ext>
              </a:extLst>
            </p:cNvPr>
            <p:cNvGrpSpPr/>
            <p:nvPr/>
          </p:nvGrpSpPr>
          <p:grpSpPr>
            <a:xfrm>
              <a:off x="3472562" y="3824333"/>
              <a:ext cx="111015" cy="371474"/>
              <a:chOff x="2403912" y="3397448"/>
              <a:chExt cx="111015" cy="371474"/>
            </a:xfrm>
          </p:grpSpPr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F155978A-A34C-4676-8891-4D4E89BFD929}"/>
                  </a:ext>
                </a:extLst>
              </p:cNvPr>
              <p:cNvSpPr/>
              <p:nvPr/>
            </p:nvSpPr>
            <p:spPr>
              <a:xfrm>
                <a:off x="2459420" y="3397448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Rounded Rectangle 28">
                <a:extLst>
                  <a:ext uri="{FF2B5EF4-FFF2-40B4-BE49-F238E27FC236}">
                    <a16:creationId xmlns:a16="http://schemas.microsoft.com/office/drawing/2014/main" id="{106FADB5-7EAE-4336-8791-F808C0B67231}"/>
                  </a:ext>
                </a:extLst>
              </p:cNvPr>
              <p:cNvSpPr/>
              <p:nvPr/>
            </p:nvSpPr>
            <p:spPr>
              <a:xfrm>
                <a:off x="2403912" y="3713415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552D0-3646-4E72-A58C-94F072D29F32}"/>
                </a:ext>
              </a:extLst>
            </p:cNvPr>
            <p:cNvGrpSpPr/>
            <p:nvPr/>
          </p:nvGrpSpPr>
          <p:grpSpPr>
            <a:xfrm>
              <a:off x="3677514" y="3871635"/>
              <a:ext cx="111015" cy="371474"/>
              <a:chOff x="2608864" y="3444750"/>
              <a:chExt cx="111015" cy="371474"/>
            </a:xfrm>
          </p:grpSpPr>
          <p:sp>
            <p:nvSpPr>
              <p:cNvPr id="34" name="Rounded Rectangle 30">
                <a:extLst>
                  <a:ext uri="{FF2B5EF4-FFF2-40B4-BE49-F238E27FC236}">
                    <a16:creationId xmlns:a16="http://schemas.microsoft.com/office/drawing/2014/main" id="{5811DE8C-ED4E-40CA-8585-89D1B5CCA83F}"/>
                  </a:ext>
                </a:extLst>
              </p:cNvPr>
              <p:cNvSpPr/>
              <p:nvPr/>
            </p:nvSpPr>
            <p:spPr>
              <a:xfrm>
                <a:off x="2664372" y="3444750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ounded Rectangle 31">
                <a:extLst>
                  <a:ext uri="{FF2B5EF4-FFF2-40B4-BE49-F238E27FC236}">
                    <a16:creationId xmlns:a16="http://schemas.microsoft.com/office/drawing/2014/main" id="{1B520BBB-1F02-44DD-A3A0-F3D46CAD6BEE}"/>
                  </a:ext>
                </a:extLst>
              </p:cNvPr>
              <p:cNvSpPr/>
              <p:nvPr/>
            </p:nvSpPr>
            <p:spPr>
              <a:xfrm>
                <a:off x="2608864" y="3760717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7F0887-B57D-4D71-BFDE-E22C748BB838}"/>
                </a:ext>
              </a:extLst>
            </p:cNvPr>
            <p:cNvGrpSpPr/>
            <p:nvPr/>
          </p:nvGrpSpPr>
          <p:grpSpPr>
            <a:xfrm>
              <a:off x="3882466" y="3918936"/>
              <a:ext cx="111015" cy="371475"/>
              <a:chOff x="2813816" y="3492051"/>
              <a:chExt cx="111015" cy="371475"/>
            </a:xfrm>
          </p:grpSpPr>
          <p:sp>
            <p:nvSpPr>
              <p:cNvPr id="37" name="Rounded Rectangle 33">
                <a:extLst>
                  <a:ext uri="{FF2B5EF4-FFF2-40B4-BE49-F238E27FC236}">
                    <a16:creationId xmlns:a16="http://schemas.microsoft.com/office/drawing/2014/main" id="{C5B679E6-B479-4112-879C-62B1498F0D07}"/>
                  </a:ext>
                </a:extLst>
              </p:cNvPr>
              <p:cNvSpPr/>
              <p:nvPr/>
            </p:nvSpPr>
            <p:spPr>
              <a:xfrm>
                <a:off x="2869324" y="3492051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ounded Rectangle 34">
                <a:extLst>
                  <a:ext uri="{FF2B5EF4-FFF2-40B4-BE49-F238E27FC236}">
                    <a16:creationId xmlns:a16="http://schemas.microsoft.com/office/drawing/2014/main" id="{1F0A0402-D71F-4086-B8A8-4244908FD7FF}"/>
                  </a:ext>
                </a:extLst>
              </p:cNvPr>
              <p:cNvSpPr/>
              <p:nvPr/>
            </p:nvSpPr>
            <p:spPr>
              <a:xfrm>
                <a:off x="2813816" y="3808019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498BFCA-30BF-4C57-A3FE-5760FFE6F95E}"/>
                </a:ext>
              </a:extLst>
            </p:cNvPr>
            <p:cNvGrpSpPr/>
            <p:nvPr/>
          </p:nvGrpSpPr>
          <p:grpSpPr>
            <a:xfrm>
              <a:off x="4087418" y="3966238"/>
              <a:ext cx="111015" cy="371474"/>
              <a:chOff x="3018768" y="3539353"/>
              <a:chExt cx="111015" cy="371474"/>
            </a:xfrm>
          </p:grpSpPr>
          <p:sp>
            <p:nvSpPr>
              <p:cNvPr id="40" name="Rounded Rectangle 36">
                <a:extLst>
                  <a:ext uri="{FF2B5EF4-FFF2-40B4-BE49-F238E27FC236}">
                    <a16:creationId xmlns:a16="http://schemas.microsoft.com/office/drawing/2014/main" id="{BB09AEFA-E72F-4A24-8CFA-2509BE485496}"/>
                  </a:ext>
                </a:extLst>
              </p:cNvPr>
              <p:cNvSpPr/>
              <p:nvPr/>
            </p:nvSpPr>
            <p:spPr>
              <a:xfrm>
                <a:off x="3074275" y="3539353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ounded Rectangle 37">
                <a:extLst>
                  <a:ext uri="{FF2B5EF4-FFF2-40B4-BE49-F238E27FC236}">
                    <a16:creationId xmlns:a16="http://schemas.microsoft.com/office/drawing/2014/main" id="{1A45DCE5-51CB-4B07-BF53-63A8754C78EC}"/>
                  </a:ext>
                </a:extLst>
              </p:cNvPr>
              <p:cNvSpPr/>
              <p:nvPr/>
            </p:nvSpPr>
            <p:spPr>
              <a:xfrm>
                <a:off x="3018768" y="3855320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" name="Rounded Rectangle 39">
              <a:extLst>
                <a:ext uri="{FF2B5EF4-FFF2-40B4-BE49-F238E27FC236}">
                  <a16:creationId xmlns:a16="http://schemas.microsoft.com/office/drawing/2014/main" id="{CDFD971A-1402-4E1F-A9D9-850841504BB1}"/>
                </a:ext>
              </a:extLst>
            </p:cNvPr>
            <p:cNvSpPr/>
            <p:nvPr/>
          </p:nvSpPr>
          <p:spPr>
            <a:xfrm>
              <a:off x="5167684" y="3824466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ounded Rectangle 40">
              <a:extLst>
                <a:ext uri="{FF2B5EF4-FFF2-40B4-BE49-F238E27FC236}">
                  <a16:creationId xmlns:a16="http://schemas.microsoft.com/office/drawing/2014/main" id="{8E1468F9-7D76-4356-8594-B8FB0D5FB50A}"/>
                </a:ext>
              </a:extLst>
            </p:cNvPr>
            <p:cNvSpPr/>
            <p:nvPr/>
          </p:nvSpPr>
          <p:spPr>
            <a:xfrm>
              <a:off x="4962732" y="3871701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ounded Rectangle 41">
              <a:extLst>
                <a:ext uri="{FF2B5EF4-FFF2-40B4-BE49-F238E27FC236}">
                  <a16:creationId xmlns:a16="http://schemas.microsoft.com/office/drawing/2014/main" id="{BFCEF2C9-021B-4D2E-9188-753CB397A1E9}"/>
                </a:ext>
              </a:extLst>
            </p:cNvPr>
            <p:cNvSpPr/>
            <p:nvPr/>
          </p:nvSpPr>
          <p:spPr>
            <a:xfrm>
              <a:off x="4757781" y="3919003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ounded Rectangle 42">
              <a:extLst>
                <a:ext uri="{FF2B5EF4-FFF2-40B4-BE49-F238E27FC236}">
                  <a16:creationId xmlns:a16="http://schemas.microsoft.com/office/drawing/2014/main" id="{BCBBCD57-C6AC-48B2-88EF-C3D6851E8EE0}"/>
                </a:ext>
              </a:extLst>
            </p:cNvPr>
            <p:cNvSpPr/>
            <p:nvPr/>
          </p:nvSpPr>
          <p:spPr>
            <a:xfrm>
              <a:off x="4552829" y="3966238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ounded Rectangle 43">
              <a:extLst>
                <a:ext uri="{FF2B5EF4-FFF2-40B4-BE49-F238E27FC236}">
                  <a16:creationId xmlns:a16="http://schemas.microsoft.com/office/drawing/2014/main" id="{D736D95B-4A75-4684-8148-6014A59E98F6}"/>
                </a:ext>
              </a:extLst>
            </p:cNvPr>
            <p:cNvSpPr/>
            <p:nvPr/>
          </p:nvSpPr>
          <p:spPr>
            <a:xfrm>
              <a:off x="4347877" y="4013540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ounded Rectangle 44">
              <a:extLst>
                <a:ext uri="{FF2B5EF4-FFF2-40B4-BE49-F238E27FC236}">
                  <a16:creationId xmlns:a16="http://schemas.microsoft.com/office/drawing/2014/main" id="{A11A859E-8587-48B9-A917-AB42CB12D8B1}"/>
                </a:ext>
              </a:extLst>
            </p:cNvPr>
            <p:cNvSpPr/>
            <p:nvPr/>
          </p:nvSpPr>
          <p:spPr>
            <a:xfrm>
              <a:off x="3015691" y="3347447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2664372" y="256189"/>
                  </a:moveTo>
                  <a:lnTo>
                    <a:pt x="2664372" y="358665"/>
                  </a:lnTo>
                  <a:lnTo>
                    <a:pt x="1332186" y="666093"/>
                  </a:lnTo>
                  <a:lnTo>
                    <a:pt x="0" y="358665"/>
                  </a:lnTo>
                  <a:lnTo>
                    <a:pt x="0" y="256189"/>
                  </a:ln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solidFill>
              <a:srgbClr val="7030A0">
                <a:alpha val="2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ounded Rectangle 45">
              <a:extLst>
                <a:ext uri="{FF2B5EF4-FFF2-40B4-BE49-F238E27FC236}">
                  <a16:creationId xmlns:a16="http://schemas.microsoft.com/office/drawing/2014/main" id="{DAC17599-86E3-4E4F-B444-F6FDFF24A351}"/>
                </a:ext>
              </a:extLst>
            </p:cNvPr>
            <p:cNvSpPr/>
            <p:nvPr/>
          </p:nvSpPr>
          <p:spPr>
            <a:xfrm>
              <a:off x="3015691" y="3347447"/>
              <a:ext cx="2664372" cy="666093"/>
            </a:xfrm>
            <a:custGeom>
              <a:avLst/>
              <a:gdLst/>
              <a:ahLst/>
              <a:cxnLst/>
              <a:rect l="0" t="0" r="0" b="0"/>
              <a:pathLst>
                <a:path w="2664372" h="666093">
                  <a:moveTo>
                    <a:pt x="0" y="256189"/>
                  </a:moveTo>
                  <a:lnTo>
                    <a:pt x="0" y="358665"/>
                  </a:lnTo>
                  <a:lnTo>
                    <a:pt x="1332186" y="666093"/>
                  </a:lnTo>
                  <a:lnTo>
                    <a:pt x="2664372" y="358665"/>
                  </a:lnTo>
                  <a:lnTo>
                    <a:pt x="2664372" y="256189"/>
                  </a:lnTo>
                  <a:moveTo>
                    <a:pt x="2664372" y="256189"/>
                  </a:moveTo>
                  <a:lnTo>
                    <a:pt x="1331941" y="563617"/>
                  </a:lnTo>
                  <a:lnTo>
                    <a:pt x="0" y="256189"/>
                  </a:lnTo>
                  <a:moveTo>
                    <a:pt x="0" y="256189"/>
                  </a:moveTo>
                  <a:lnTo>
                    <a:pt x="1110155" y="0"/>
                  </a:lnTo>
                  <a:lnTo>
                    <a:pt x="1332186" y="51237"/>
                  </a:lnTo>
                  <a:lnTo>
                    <a:pt x="1554217" y="0"/>
                  </a:lnTo>
                  <a:lnTo>
                    <a:pt x="2664372" y="256189"/>
                  </a:lnTo>
                </a:path>
              </a:pathLst>
            </a:custGeom>
            <a:solidFill>
              <a:srgbClr val="7030A0">
                <a:alpha val="17000"/>
              </a:srgbClr>
            </a:solidFill>
            <a:ln w="12809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B002103-83F8-4C3E-94C5-DAB39C6CB54C}"/>
                </a:ext>
              </a:extLst>
            </p:cNvPr>
            <p:cNvGrpSpPr/>
            <p:nvPr/>
          </p:nvGrpSpPr>
          <p:grpSpPr>
            <a:xfrm>
              <a:off x="3267611" y="3162176"/>
              <a:ext cx="111015" cy="371474"/>
              <a:chOff x="2198961" y="2735291"/>
              <a:chExt cx="111015" cy="371474"/>
            </a:xfrm>
          </p:grpSpPr>
          <p:sp>
            <p:nvSpPr>
              <p:cNvPr id="50" name="Rounded Rectangle 46">
                <a:extLst>
                  <a:ext uri="{FF2B5EF4-FFF2-40B4-BE49-F238E27FC236}">
                    <a16:creationId xmlns:a16="http://schemas.microsoft.com/office/drawing/2014/main" id="{53043800-2232-45FD-9BE4-D8BEC28AA804}"/>
                  </a:ext>
                </a:extLst>
              </p:cNvPr>
              <p:cNvSpPr/>
              <p:nvPr/>
            </p:nvSpPr>
            <p:spPr>
              <a:xfrm>
                <a:off x="2254468" y="2735291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Rounded Rectangle 47">
                <a:extLst>
                  <a:ext uri="{FF2B5EF4-FFF2-40B4-BE49-F238E27FC236}">
                    <a16:creationId xmlns:a16="http://schemas.microsoft.com/office/drawing/2014/main" id="{ED3469DD-FC4C-4C9E-A846-72E0111F80D5}"/>
                  </a:ext>
                </a:extLst>
              </p:cNvPr>
              <p:cNvSpPr/>
              <p:nvPr/>
            </p:nvSpPr>
            <p:spPr>
              <a:xfrm>
                <a:off x="2198961" y="3051258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7CA8942-A348-4E1A-9F7B-77FA7818B26C}"/>
                </a:ext>
              </a:extLst>
            </p:cNvPr>
            <p:cNvGrpSpPr/>
            <p:nvPr/>
          </p:nvGrpSpPr>
          <p:grpSpPr>
            <a:xfrm>
              <a:off x="3472562" y="3209478"/>
              <a:ext cx="111015" cy="371474"/>
              <a:chOff x="2403912" y="2782593"/>
              <a:chExt cx="111015" cy="371474"/>
            </a:xfrm>
          </p:grpSpPr>
          <p:sp>
            <p:nvSpPr>
              <p:cNvPr id="53" name="Rounded Rectangle 49">
                <a:extLst>
                  <a:ext uri="{FF2B5EF4-FFF2-40B4-BE49-F238E27FC236}">
                    <a16:creationId xmlns:a16="http://schemas.microsoft.com/office/drawing/2014/main" id="{29AE1BF5-2990-46A2-ACCD-0B97B130F582}"/>
                  </a:ext>
                </a:extLst>
              </p:cNvPr>
              <p:cNvSpPr/>
              <p:nvPr/>
            </p:nvSpPr>
            <p:spPr>
              <a:xfrm>
                <a:off x="2459420" y="2782593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Rounded Rectangle 50">
                <a:extLst>
                  <a:ext uri="{FF2B5EF4-FFF2-40B4-BE49-F238E27FC236}">
                    <a16:creationId xmlns:a16="http://schemas.microsoft.com/office/drawing/2014/main" id="{AB8E66D8-EC95-47CF-82B4-374CE8CD7B9B}"/>
                  </a:ext>
                </a:extLst>
              </p:cNvPr>
              <p:cNvSpPr/>
              <p:nvPr/>
            </p:nvSpPr>
            <p:spPr>
              <a:xfrm>
                <a:off x="2403912" y="3098560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CB92DBC-63B2-409E-9B8F-54EB2BBAB645}"/>
                </a:ext>
              </a:extLst>
            </p:cNvPr>
            <p:cNvGrpSpPr/>
            <p:nvPr/>
          </p:nvGrpSpPr>
          <p:grpSpPr>
            <a:xfrm>
              <a:off x="3677514" y="3256779"/>
              <a:ext cx="111015" cy="371475"/>
              <a:chOff x="2608864" y="2829894"/>
              <a:chExt cx="111015" cy="371475"/>
            </a:xfrm>
          </p:grpSpPr>
          <p:sp>
            <p:nvSpPr>
              <p:cNvPr id="56" name="Rounded Rectangle 52">
                <a:extLst>
                  <a:ext uri="{FF2B5EF4-FFF2-40B4-BE49-F238E27FC236}">
                    <a16:creationId xmlns:a16="http://schemas.microsoft.com/office/drawing/2014/main" id="{21F813C8-23A4-4548-8355-684785CC14E7}"/>
                  </a:ext>
                </a:extLst>
              </p:cNvPr>
              <p:cNvSpPr/>
              <p:nvPr/>
            </p:nvSpPr>
            <p:spPr>
              <a:xfrm>
                <a:off x="2664372" y="2829894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Rounded Rectangle 53">
                <a:extLst>
                  <a:ext uri="{FF2B5EF4-FFF2-40B4-BE49-F238E27FC236}">
                    <a16:creationId xmlns:a16="http://schemas.microsoft.com/office/drawing/2014/main" id="{63A91257-F01E-4293-BA6E-27373B41F274}"/>
                  </a:ext>
                </a:extLst>
              </p:cNvPr>
              <p:cNvSpPr/>
              <p:nvPr/>
            </p:nvSpPr>
            <p:spPr>
              <a:xfrm>
                <a:off x="2608864" y="3145862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6F58E92-CA32-4BA0-BB7F-0D9528420983}"/>
                </a:ext>
              </a:extLst>
            </p:cNvPr>
            <p:cNvGrpSpPr/>
            <p:nvPr/>
          </p:nvGrpSpPr>
          <p:grpSpPr>
            <a:xfrm>
              <a:off x="3882466" y="3304081"/>
              <a:ext cx="111015" cy="371474"/>
              <a:chOff x="2813816" y="2877196"/>
              <a:chExt cx="111015" cy="371474"/>
            </a:xfrm>
          </p:grpSpPr>
          <p:sp>
            <p:nvSpPr>
              <p:cNvPr id="59" name="Rounded Rectangle 55">
                <a:extLst>
                  <a:ext uri="{FF2B5EF4-FFF2-40B4-BE49-F238E27FC236}">
                    <a16:creationId xmlns:a16="http://schemas.microsoft.com/office/drawing/2014/main" id="{3CD45B96-A0CA-47EC-A148-06EDA62822FB}"/>
                  </a:ext>
                </a:extLst>
              </p:cNvPr>
              <p:cNvSpPr/>
              <p:nvPr/>
            </p:nvSpPr>
            <p:spPr>
              <a:xfrm>
                <a:off x="2869324" y="2877196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Rounded Rectangle 56">
                <a:extLst>
                  <a:ext uri="{FF2B5EF4-FFF2-40B4-BE49-F238E27FC236}">
                    <a16:creationId xmlns:a16="http://schemas.microsoft.com/office/drawing/2014/main" id="{D922C69A-ACA8-462C-A21D-32810D8F5007}"/>
                  </a:ext>
                </a:extLst>
              </p:cNvPr>
              <p:cNvSpPr/>
              <p:nvPr/>
            </p:nvSpPr>
            <p:spPr>
              <a:xfrm>
                <a:off x="2813816" y="3193163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39D365A-08DE-4B70-A65F-C84F729FDA36}"/>
                </a:ext>
              </a:extLst>
            </p:cNvPr>
            <p:cNvGrpSpPr/>
            <p:nvPr/>
          </p:nvGrpSpPr>
          <p:grpSpPr>
            <a:xfrm>
              <a:off x="4087418" y="3351383"/>
              <a:ext cx="111015" cy="371474"/>
              <a:chOff x="3018768" y="2924498"/>
              <a:chExt cx="111015" cy="371474"/>
            </a:xfrm>
          </p:grpSpPr>
          <p:sp>
            <p:nvSpPr>
              <p:cNvPr id="62" name="Rounded Rectangle 58">
                <a:extLst>
                  <a:ext uri="{FF2B5EF4-FFF2-40B4-BE49-F238E27FC236}">
                    <a16:creationId xmlns:a16="http://schemas.microsoft.com/office/drawing/2014/main" id="{699FDBD1-91AA-46F7-81A1-F5B0E6D72F7A}"/>
                  </a:ext>
                </a:extLst>
              </p:cNvPr>
              <p:cNvSpPr/>
              <p:nvPr/>
            </p:nvSpPr>
            <p:spPr>
              <a:xfrm>
                <a:off x="3074275" y="2924498"/>
                <a:ext cx="8539" cy="367205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67205">
                    <a:moveTo>
                      <a:pt x="0" y="0"/>
                    </a:moveTo>
                    <a:lnTo>
                      <a:pt x="0" y="367205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Rounded Rectangle 59">
                <a:extLst>
                  <a:ext uri="{FF2B5EF4-FFF2-40B4-BE49-F238E27FC236}">
                    <a16:creationId xmlns:a16="http://schemas.microsoft.com/office/drawing/2014/main" id="{F1F1AD8D-B7B0-40BD-B9B3-C589527106EC}"/>
                  </a:ext>
                </a:extLst>
              </p:cNvPr>
              <p:cNvSpPr/>
              <p:nvPr/>
            </p:nvSpPr>
            <p:spPr>
              <a:xfrm>
                <a:off x="3018768" y="3240465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7862D1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4" name="Rounded Rectangle 61">
              <a:extLst>
                <a:ext uri="{FF2B5EF4-FFF2-40B4-BE49-F238E27FC236}">
                  <a16:creationId xmlns:a16="http://schemas.microsoft.com/office/drawing/2014/main" id="{2C7A70ED-D188-441B-91E4-807AEA70A65E}"/>
                </a:ext>
              </a:extLst>
            </p:cNvPr>
            <p:cNvSpPr/>
            <p:nvPr/>
          </p:nvSpPr>
          <p:spPr>
            <a:xfrm>
              <a:off x="5372636" y="3162310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ounded Rectangle 62">
              <a:extLst>
                <a:ext uri="{FF2B5EF4-FFF2-40B4-BE49-F238E27FC236}">
                  <a16:creationId xmlns:a16="http://schemas.microsoft.com/office/drawing/2014/main" id="{75619E08-DC4C-47BC-B542-EDB7BD8A3655}"/>
                </a:ext>
              </a:extLst>
            </p:cNvPr>
            <p:cNvSpPr/>
            <p:nvPr/>
          </p:nvSpPr>
          <p:spPr>
            <a:xfrm>
              <a:off x="5167684" y="3209611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ounded Rectangle 63">
              <a:extLst>
                <a:ext uri="{FF2B5EF4-FFF2-40B4-BE49-F238E27FC236}">
                  <a16:creationId xmlns:a16="http://schemas.microsoft.com/office/drawing/2014/main" id="{5AB1DF8D-32A0-41DA-A187-93108A840E2C}"/>
                </a:ext>
              </a:extLst>
            </p:cNvPr>
            <p:cNvSpPr/>
            <p:nvPr/>
          </p:nvSpPr>
          <p:spPr>
            <a:xfrm>
              <a:off x="4962732" y="3256846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ounded Rectangle 64">
              <a:extLst>
                <a:ext uri="{FF2B5EF4-FFF2-40B4-BE49-F238E27FC236}">
                  <a16:creationId xmlns:a16="http://schemas.microsoft.com/office/drawing/2014/main" id="{B601B843-3915-41F1-824C-BB78D1101BAE}"/>
                </a:ext>
              </a:extLst>
            </p:cNvPr>
            <p:cNvSpPr/>
            <p:nvPr/>
          </p:nvSpPr>
          <p:spPr>
            <a:xfrm>
              <a:off x="4757781" y="3304148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ounded Rectangle 65">
              <a:extLst>
                <a:ext uri="{FF2B5EF4-FFF2-40B4-BE49-F238E27FC236}">
                  <a16:creationId xmlns:a16="http://schemas.microsoft.com/office/drawing/2014/main" id="{2552EE6E-8F94-4039-82D0-6A040FA052B0}"/>
                </a:ext>
              </a:extLst>
            </p:cNvPr>
            <p:cNvSpPr/>
            <p:nvPr/>
          </p:nvSpPr>
          <p:spPr>
            <a:xfrm>
              <a:off x="4552829" y="3351383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ounded Rectangle 66">
              <a:extLst>
                <a:ext uri="{FF2B5EF4-FFF2-40B4-BE49-F238E27FC236}">
                  <a16:creationId xmlns:a16="http://schemas.microsoft.com/office/drawing/2014/main" id="{97B5B25F-09BA-4050-8111-22286136755D}"/>
                </a:ext>
              </a:extLst>
            </p:cNvPr>
            <p:cNvSpPr/>
            <p:nvPr/>
          </p:nvSpPr>
          <p:spPr>
            <a:xfrm>
              <a:off x="4347877" y="3398685"/>
              <a:ext cx="8539" cy="384284"/>
            </a:xfrm>
            <a:custGeom>
              <a:avLst/>
              <a:gdLst/>
              <a:ahLst/>
              <a:cxnLst/>
              <a:rect l="0" t="0" r="0" b="0"/>
              <a:pathLst>
                <a:path w="8539" h="384284">
                  <a:moveTo>
                    <a:pt x="0" y="0"/>
                  </a:moveTo>
                  <a:lnTo>
                    <a:pt x="0" y="384284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ounded Rectangle 67">
              <a:extLst>
                <a:ext uri="{FF2B5EF4-FFF2-40B4-BE49-F238E27FC236}">
                  <a16:creationId xmlns:a16="http://schemas.microsoft.com/office/drawing/2014/main" id="{508977E9-6111-4620-825E-A5E3EDDF0506}"/>
                </a:ext>
              </a:extLst>
            </p:cNvPr>
            <p:cNvSpPr/>
            <p:nvPr/>
          </p:nvSpPr>
          <p:spPr>
            <a:xfrm>
              <a:off x="3015691" y="2681353"/>
              <a:ext cx="2664372" cy="717331"/>
            </a:xfrm>
            <a:custGeom>
              <a:avLst/>
              <a:gdLst/>
              <a:ahLst/>
              <a:cxnLst/>
              <a:rect l="0" t="0" r="0" b="0"/>
              <a:pathLst>
                <a:path w="2664372" h="717331">
                  <a:moveTo>
                    <a:pt x="2664372" y="307427"/>
                  </a:moveTo>
                  <a:lnTo>
                    <a:pt x="2664372" y="409903"/>
                  </a:lnTo>
                  <a:lnTo>
                    <a:pt x="1332186" y="717331"/>
                  </a:lnTo>
                  <a:lnTo>
                    <a:pt x="0" y="409903"/>
                  </a:lnTo>
                  <a:lnTo>
                    <a:pt x="0" y="307427"/>
                  </a:lnTo>
                  <a:lnTo>
                    <a:pt x="1332186" y="0"/>
                  </a:lnTo>
                  <a:lnTo>
                    <a:pt x="2664372" y="307427"/>
                  </a:lnTo>
                </a:path>
              </a:pathLst>
            </a:custGeom>
            <a:solidFill>
              <a:srgbClr val="0000FF">
                <a:alpha val="23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ounded Rectangle 68">
              <a:extLst>
                <a:ext uri="{FF2B5EF4-FFF2-40B4-BE49-F238E27FC236}">
                  <a16:creationId xmlns:a16="http://schemas.microsoft.com/office/drawing/2014/main" id="{E11B68D2-268A-47BC-94B5-871C0D3777E0}"/>
                </a:ext>
              </a:extLst>
            </p:cNvPr>
            <p:cNvSpPr/>
            <p:nvPr/>
          </p:nvSpPr>
          <p:spPr>
            <a:xfrm>
              <a:off x="3015691" y="2681353"/>
              <a:ext cx="2664372" cy="717331"/>
            </a:xfrm>
            <a:custGeom>
              <a:avLst/>
              <a:gdLst/>
              <a:ahLst/>
              <a:cxnLst/>
              <a:rect l="0" t="0" r="0" b="0"/>
              <a:pathLst>
                <a:path w="2664372" h="717331">
                  <a:moveTo>
                    <a:pt x="0" y="307427"/>
                  </a:moveTo>
                  <a:lnTo>
                    <a:pt x="0" y="409903"/>
                  </a:lnTo>
                  <a:lnTo>
                    <a:pt x="1332186" y="717331"/>
                  </a:lnTo>
                  <a:lnTo>
                    <a:pt x="2664372" y="409903"/>
                  </a:lnTo>
                  <a:lnTo>
                    <a:pt x="2664372" y="307427"/>
                  </a:lnTo>
                  <a:moveTo>
                    <a:pt x="0" y="307427"/>
                  </a:moveTo>
                  <a:lnTo>
                    <a:pt x="1332186" y="0"/>
                  </a:lnTo>
                  <a:lnTo>
                    <a:pt x="2664372" y="307427"/>
                  </a:lnTo>
                  <a:moveTo>
                    <a:pt x="2664372" y="307427"/>
                  </a:moveTo>
                  <a:lnTo>
                    <a:pt x="1332186" y="614855"/>
                  </a:lnTo>
                  <a:lnTo>
                    <a:pt x="0" y="307427"/>
                  </a:lnTo>
                </a:path>
              </a:pathLst>
            </a:custGeom>
            <a:noFill/>
            <a:ln w="12809">
              <a:solidFill>
                <a:srgbClr val="7862D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3554C46-6A40-4D30-8050-0E69EF4BB7D5}"/>
                </a:ext>
              </a:extLst>
            </p:cNvPr>
            <p:cNvGrpSpPr/>
            <p:nvPr/>
          </p:nvGrpSpPr>
          <p:grpSpPr>
            <a:xfrm>
              <a:off x="3062659" y="2476402"/>
              <a:ext cx="111015" cy="395385"/>
              <a:chOff x="1994009" y="2049517"/>
              <a:chExt cx="111015" cy="395385"/>
            </a:xfrm>
          </p:grpSpPr>
          <p:sp>
            <p:nvSpPr>
              <p:cNvPr id="73" name="Rounded Rectangle 69">
                <a:extLst>
                  <a:ext uri="{FF2B5EF4-FFF2-40B4-BE49-F238E27FC236}">
                    <a16:creationId xmlns:a16="http://schemas.microsoft.com/office/drawing/2014/main" id="{7CDAC75D-A8B1-4D9B-B4E4-EF6E08C40490}"/>
                  </a:ext>
                </a:extLst>
              </p:cNvPr>
              <p:cNvSpPr/>
              <p:nvPr/>
            </p:nvSpPr>
            <p:spPr>
              <a:xfrm>
                <a:off x="2049517" y="2049517"/>
                <a:ext cx="8539" cy="390860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90860">
                    <a:moveTo>
                      <a:pt x="0" y="0"/>
                    </a:moveTo>
                    <a:lnTo>
                      <a:pt x="0" y="39086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ounded Rectangle 70">
                <a:extLst>
                  <a:ext uri="{FF2B5EF4-FFF2-40B4-BE49-F238E27FC236}">
                    <a16:creationId xmlns:a16="http://schemas.microsoft.com/office/drawing/2014/main" id="{8CCB55AE-FF3D-4C3D-BF16-417EDC820153}"/>
                  </a:ext>
                </a:extLst>
              </p:cNvPr>
              <p:cNvSpPr/>
              <p:nvPr/>
            </p:nvSpPr>
            <p:spPr>
              <a:xfrm>
                <a:off x="1994009" y="2389395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5" name="Rounded Rectangle 72">
              <a:extLst>
                <a:ext uri="{FF2B5EF4-FFF2-40B4-BE49-F238E27FC236}">
                  <a16:creationId xmlns:a16="http://schemas.microsoft.com/office/drawing/2014/main" id="{0B5EB22A-6BA4-48B9-AB15-595513549A75}"/>
                </a:ext>
              </a:extLst>
            </p:cNvPr>
            <p:cNvSpPr/>
            <p:nvPr/>
          </p:nvSpPr>
          <p:spPr>
            <a:xfrm>
              <a:off x="4962732" y="2578878"/>
              <a:ext cx="8539" cy="447414"/>
            </a:xfrm>
            <a:custGeom>
              <a:avLst/>
              <a:gdLst/>
              <a:ahLst/>
              <a:cxnLst/>
              <a:rect l="0" t="0" r="0" b="0"/>
              <a:pathLst>
                <a:path w="8539" h="447414">
                  <a:moveTo>
                    <a:pt x="0" y="0"/>
                  </a:moveTo>
                  <a:lnTo>
                    <a:pt x="0" y="44741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ounded Rectangle 73">
              <a:extLst>
                <a:ext uri="{FF2B5EF4-FFF2-40B4-BE49-F238E27FC236}">
                  <a16:creationId xmlns:a16="http://schemas.microsoft.com/office/drawing/2014/main" id="{67A7519F-A53B-4600-B833-0B0C5A1E37C4}"/>
                </a:ext>
              </a:extLst>
            </p:cNvPr>
            <p:cNvSpPr/>
            <p:nvPr/>
          </p:nvSpPr>
          <p:spPr>
            <a:xfrm>
              <a:off x="4552829" y="2578878"/>
              <a:ext cx="8539" cy="541951"/>
            </a:xfrm>
            <a:custGeom>
              <a:avLst/>
              <a:gdLst/>
              <a:ahLst/>
              <a:cxnLst/>
              <a:rect l="0" t="0" r="0" b="0"/>
              <a:pathLst>
                <a:path w="8539" h="541951">
                  <a:moveTo>
                    <a:pt x="0" y="0"/>
                  </a:moveTo>
                  <a:lnTo>
                    <a:pt x="0" y="541951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A8D538D-DFA1-457A-85DB-88E7C5BB563D}"/>
                </a:ext>
              </a:extLst>
            </p:cNvPr>
            <p:cNvGrpSpPr/>
            <p:nvPr/>
          </p:nvGrpSpPr>
          <p:grpSpPr>
            <a:xfrm>
              <a:off x="3677514" y="2578878"/>
              <a:ext cx="111015" cy="434667"/>
              <a:chOff x="2608864" y="2151993"/>
              <a:chExt cx="111015" cy="434667"/>
            </a:xfrm>
          </p:grpSpPr>
          <p:sp>
            <p:nvSpPr>
              <p:cNvPr id="78" name="Rounded Rectangle 74">
                <a:extLst>
                  <a:ext uri="{FF2B5EF4-FFF2-40B4-BE49-F238E27FC236}">
                    <a16:creationId xmlns:a16="http://schemas.microsoft.com/office/drawing/2014/main" id="{2D47D602-4F83-4580-90E8-368EE6D18B7F}"/>
                  </a:ext>
                </a:extLst>
              </p:cNvPr>
              <p:cNvSpPr/>
              <p:nvPr/>
            </p:nvSpPr>
            <p:spPr>
              <a:xfrm>
                <a:off x="2664372" y="2151993"/>
                <a:ext cx="8539" cy="430227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430227">
                    <a:moveTo>
                      <a:pt x="0" y="0"/>
                    </a:moveTo>
                    <a:lnTo>
                      <a:pt x="0" y="430227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Rounded Rectangle 75">
                <a:extLst>
                  <a:ext uri="{FF2B5EF4-FFF2-40B4-BE49-F238E27FC236}">
                    <a16:creationId xmlns:a16="http://schemas.microsoft.com/office/drawing/2014/main" id="{CD206146-7679-4798-B077-87BBD73762CA}"/>
                  </a:ext>
                </a:extLst>
              </p:cNvPr>
              <p:cNvSpPr/>
              <p:nvPr/>
            </p:nvSpPr>
            <p:spPr>
              <a:xfrm>
                <a:off x="2608864" y="2531153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0" name="Rounded Rectangle 77">
              <a:extLst>
                <a:ext uri="{FF2B5EF4-FFF2-40B4-BE49-F238E27FC236}">
                  <a16:creationId xmlns:a16="http://schemas.microsoft.com/office/drawing/2014/main" id="{6B912913-1766-4F60-A106-A9C95C0CDD63}"/>
                </a:ext>
              </a:extLst>
            </p:cNvPr>
            <p:cNvSpPr/>
            <p:nvPr/>
          </p:nvSpPr>
          <p:spPr>
            <a:xfrm>
              <a:off x="4757781" y="2476402"/>
              <a:ext cx="8539" cy="597158"/>
            </a:xfrm>
            <a:custGeom>
              <a:avLst/>
              <a:gdLst/>
              <a:ahLst/>
              <a:cxnLst/>
              <a:rect l="0" t="0" r="0" b="0"/>
              <a:pathLst>
                <a:path w="8539" h="597158">
                  <a:moveTo>
                    <a:pt x="0" y="0"/>
                  </a:moveTo>
                  <a:lnTo>
                    <a:pt x="0" y="597158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AA63CF8-E960-4AFC-BFC3-5BDA1F431B75}"/>
                </a:ext>
              </a:extLst>
            </p:cNvPr>
            <p:cNvGrpSpPr/>
            <p:nvPr/>
          </p:nvGrpSpPr>
          <p:grpSpPr>
            <a:xfrm>
              <a:off x="3267611" y="2578878"/>
              <a:ext cx="111015" cy="339877"/>
              <a:chOff x="2198961" y="2151993"/>
              <a:chExt cx="111015" cy="339877"/>
            </a:xfrm>
          </p:grpSpPr>
          <p:sp>
            <p:nvSpPr>
              <p:cNvPr id="82" name="Rounded Rectangle 78">
                <a:extLst>
                  <a:ext uri="{FF2B5EF4-FFF2-40B4-BE49-F238E27FC236}">
                    <a16:creationId xmlns:a16="http://schemas.microsoft.com/office/drawing/2014/main" id="{31E5F836-9F52-43D1-BBFA-A63CD737888F}"/>
                  </a:ext>
                </a:extLst>
              </p:cNvPr>
              <p:cNvSpPr/>
              <p:nvPr/>
            </p:nvSpPr>
            <p:spPr>
              <a:xfrm>
                <a:off x="2254468" y="2151993"/>
                <a:ext cx="8539" cy="335693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335693">
                    <a:moveTo>
                      <a:pt x="0" y="0"/>
                    </a:moveTo>
                    <a:lnTo>
                      <a:pt x="0" y="335693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ounded Rectangle 79">
                <a:extLst>
                  <a:ext uri="{FF2B5EF4-FFF2-40B4-BE49-F238E27FC236}">
                    <a16:creationId xmlns:a16="http://schemas.microsoft.com/office/drawing/2014/main" id="{E0637CE2-21FF-41FF-89BB-196F0F7F7697}"/>
                  </a:ext>
                </a:extLst>
              </p:cNvPr>
              <p:cNvSpPr/>
              <p:nvPr/>
            </p:nvSpPr>
            <p:spPr>
              <a:xfrm>
                <a:off x="2198961" y="2436363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4" name="Rounded Rectangle 81">
              <a:extLst>
                <a:ext uri="{FF2B5EF4-FFF2-40B4-BE49-F238E27FC236}">
                  <a16:creationId xmlns:a16="http://schemas.microsoft.com/office/drawing/2014/main" id="{DEE04B7B-FD91-495A-B217-A8B032901833}"/>
                </a:ext>
              </a:extLst>
            </p:cNvPr>
            <p:cNvSpPr/>
            <p:nvPr/>
          </p:nvSpPr>
          <p:spPr>
            <a:xfrm>
              <a:off x="5577587" y="2476402"/>
              <a:ext cx="8539" cy="408076"/>
            </a:xfrm>
            <a:custGeom>
              <a:avLst/>
              <a:gdLst/>
              <a:ahLst/>
              <a:cxnLst/>
              <a:rect l="0" t="0" r="0" b="0"/>
              <a:pathLst>
                <a:path w="8539" h="408076">
                  <a:moveTo>
                    <a:pt x="0" y="0"/>
                  </a:moveTo>
                  <a:lnTo>
                    <a:pt x="0" y="408076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ounded Rectangle 82">
              <a:extLst>
                <a:ext uri="{FF2B5EF4-FFF2-40B4-BE49-F238E27FC236}">
                  <a16:creationId xmlns:a16="http://schemas.microsoft.com/office/drawing/2014/main" id="{9247546F-7D95-41EE-8E47-5B1D8E6908D3}"/>
                </a:ext>
              </a:extLst>
            </p:cNvPr>
            <p:cNvSpPr/>
            <p:nvPr/>
          </p:nvSpPr>
          <p:spPr>
            <a:xfrm>
              <a:off x="5167684" y="2476402"/>
              <a:ext cx="8539" cy="502621"/>
            </a:xfrm>
            <a:custGeom>
              <a:avLst/>
              <a:gdLst/>
              <a:ahLst/>
              <a:cxnLst/>
              <a:rect l="0" t="0" r="0" b="0"/>
              <a:pathLst>
                <a:path w="8539" h="502621">
                  <a:moveTo>
                    <a:pt x="0" y="0"/>
                  </a:moveTo>
                  <a:lnTo>
                    <a:pt x="0" y="502621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5401CA0-108C-481E-B335-4AA0D03DE0FA}"/>
                </a:ext>
              </a:extLst>
            </p:cNvPr>
            <p:cNvGrpSpPr/>
            <p:nvPr/>
          </p:nvGrpSpPr>
          <p:grpSpPr>
            <a:xfrm>
              <a:off x="3472562" y="2476402"/>
              <a:ext cx="111015" cy="489321"/>
              <a:chOff x="2403912" y="2049517"/>
              <a:chExt cx="111015" cy="489321"/>
            </a:xfrm>
          </p:grpSpPr>
          <p:sp>
            <p:nvSpPr>
              <p:cNvPr id="87" name="Rounded Rectangle 83">
                <a:extLst>
                  <a:ext uri="{FF2B5EF4-FFF2-40B4-BE49-F238E27FC236}">
                    <a16:creationId xmlns:a16="http://schemas.microsoft.com/office/drawing/2014/main" id="{490E9477-107E-4083-B3E8-CEF91A12A784}"/>
                  </a:ext>
                </a:extLst>
              </p:cNvPr>
              <p:cNvSpPr/>
              <p:nvPr/>
            </p:nvSpPr>
            <p:spPr>
              <a:xfrm>
                <a:off x="2459420" y="2049517"/>
                <a:ext cx="8539" cy="485394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485394">
                    <a:moveTo>
                      <a:pt x="0" y="0"/>
                    </a:moveTo>
                    <a:lnTo>
                      <a:pt x="0" y="485394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Rounded Rectangle 84">
                <a:extLst>
                  <a:ext uri="{FF2B5EF4-FFF2-40B4-BE49-F238E27FC236}">
                    <a16:creationId xmlns:a16="http://schemas.microsoft.com/office/drawing/2014/main" id="{F3AC3BE6-F396-40A2-87E1-0CC0BADD33CA}"/>
                  </a:ext>
                </a:extLst>
              </p:cNvPr>
              <p:cNvSpPr/>
              <p:nvPr/>
            </p:nvSpPr>
            <p:spPr>
              <a:xfrm>
                <a:off x="2403912" y="2483331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241C2D5-DB2F-4C93-859E-4B3FF46D9BB9}"/>
                </a:ext>
              </a:extLst>
            </p:cNvPr>
            <p:cNvGrpSpPr/>
            <p:nvPr/>
          </p:nvGrpSpPr>
          <p:grpSpPr>
            <a:xfrm>
              <a:off x="4087418" y="2578878"/>
              <a:ext cx="111015" cy="529457"/>
              <a:chOff x="3018768" y="2151993"/>
              <a:chExt cx="111015" cy="529457"/>
            </a:xfrm>
          </p:grpSpPr>
          <p:sp>
            <p:nvSpPr>
              <p:cNvPr id="90" name="Rounded Rectangle 86">
                <a:extLst>
                  <a:ext uri="{FF2B5EF4-FFF2-40B4-BE49-F238E27FC236}">
                    <a16:creationId xmlns:a16="http://schemas.microsoft.com/office/drawing/2014/main" id="{485B2841-2097-4FC8-9F32-321EC791D21C}"/>
                  </a:ext>
                </a:extLst>
              </p:cNvPr>
              <p:cNvSpPr/>
              <p:nvPr/>
            </p:nvSpPr>
            <p:spPr>
              <a:xfrm>
                <a:off x="3074275" y="2151993"/>
                <a:ext cx="8539" cy="524847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524847">
                    <a:moveTo>
                      <a:pt x="0" y="0"/>
                    </a:moveTo>
                    <a:lnTo>
                      <a:pt x="0" y="524847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Rounded Rectangle 87">
                <a:extLst>
                  <a:ext uri="{FF2B5EF4-FFF2-40B4-BE49-F238E27FC236}">
                    <a16:creationId xmlns:a16="http://schemas.microsoft.com/office/drawing/2014/main" id="{FDBD4ABF-7259-41C5-A11A-1FC30F5E4470}"/>
                  </a:ext>
                </a:extLst>
              </p:cNvPr>
              <p:cNvSpPr/>
              <p:nvPr/>
            </p:nvSpPr>
            <p:spPr>
              <a:xfrm>
                <a:off x="3018768" y="2625943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A4137CC-5EBA-40FC-8460-91B6C67B75D6}"/>
                </a:ext>
              </a:extLst>
            </p:cNvPr>
            <p:cNvGrpSpPr/>
            <p:nvPr/>
          </p:nvGrpSpPr>
          <p:grpSpPr>
            <a:xfrm>
              <a:off x="3882466" y="2476402"/>
              <a:ext cx="111015" cy="584111"/>
              <a:chOff x="2813816" y="2049517"/>
              <a:chExt cx="111015" cy="584111"/>
            </a:xfrm>
          </p:grpSpPr>
          <p:sp>
            <p:nvSpPr>
              <p:cNvPr id="93" name="Rounded Rectangle 89">
                <a:extLst>
                  <a:ext uri="{FF2B5EF4-FFF2-40B4-BE49-F238E27FC236}">
                    <a16:creationId xmlns:a16="http://schemas.microsoft.com/office/drawing/2014/main" id="{0671014B-A1F9-404E-AD6C-F9FFECC7E231}"/>
                  </a:ext>
                </a:extLst>
              </p:cNvPr>
              <p:cNvSpPr/>
              <p:nvPr/>
            </p:nvSpPr>
            <p:spPr>
              <a:xfrm>
                <a:off x="2869324" y="2049517"/>
                <a:ext cx="8539" cy="580013"/>
              </a:xfrm>
              <a:custGeom>
                <a:avLst/>
                <a:gdLst/>
                <a:ahLst/>
                <a:cxnLst/>
                <a:rect l="0" t="0" r="0" b="0"/>
                <a:pathLst>
                  <a:path w="8539" h="580013">
                    <a:moveTo>
                      <a:pt x="0" y="0"/>
                    </a:moveTo>
                    <a:lnTo>
                      <a:pt x="0" y="580013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Rounded Rectangle 90">
                <a:extLst>
                  <a:ext uri="{FF2B5EF4-FFF2-40B4-BE49-F238E27FC236}">
                    <a16:creationId xmlns:a16="http://schemas.microsoft.com/office/drawing/2014/main" id="{35DF0BA5-C4BE-46B9-A0DA-3B8CF4F78F91}"/>
                  </a:ext>
                </a:extLst>
              </p:cNvPr>
              <p:cNvSpPr/>
              <p:nvPr/>
            </p:nvSpPr>
            <p:spPr>
              <a:xfrm>
                <a:off x="2813816" y="2578121"/>
                <a:ext cx="111015" cy="55507"/>
              </a:xfrm>
              <a:custGeom>
                <a:avLst/>
                <a:gdLst/>
                <a:ahLst/>
                <a:cxnLst/>
                <a:rect l="0" t="0" r="0" b="0"/>
                <a:pathLst>
                  <a:path w="111015" h="55507">
                    <a:moveTo>
                      <a:pt x="0" y="0"/>
                    </a:moveTo>
                    <a:lnTo>
                      <a:pt x="55507" y="55507"/>
                    </a:lnTo>
                    <a:lnTo>
                      <a:pt x="111015" y="0"/>
                    </a:lnTo>
                  </a:path>
                </a:pathLst>
              </a:custGeom>
              <a:noFill/>
              <a:ln w="12809">
                <a:solidFill>
                  <a:srgbClr val="808080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5" name="Rounded Rectangle 92">
              <a:extLst>
                <a:ext uri="{FF2B5EF4-FFF2-40B4-BE49-F238E27FC236}">
                  <a16:creationId xmlns:a16="http://schemas.microsoft.com/office/drawing/2014/main" id="{8F3068C9-14E6-4457-ABF5-4379713DB053}"/>
                </a:ext>
              </a:extLst>
            </p:cNvPr>
            <p:cNvSpPr/>
            <p:nvPr/>
          </p:nvSpPr>
          <p:spPr>
            <a:xfrm>
              <a:off x="5372636" y="2578878"/>
              <a:ext cx="8539" cy="352878"/>
            </a:xfrm>
            <a:custGeom>
              <a:avLst/>
              <a:gdLst/>
              <a:ahLst/>
              <a:cxnLst/>
              <a:rect l="0" t="0" r="0" b="0"/>
              <a:pathLst>
                <a:path w="8539" h="352878">
                  <a:moveTo>
                    <a:pt x="0" y="0"/>
                  </a:moveTo>
                  <a:lnTo>
                    <a:pt x="0" y="352878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Rounded Rectangle 93">
              <a:extLst>
                <a:ext uri="{FF2B5EF4-FFF2-40B4-BE49-F238E27FC236}">
                  <a16:creationId xmlns:a16="http://schemas.microsoft.com/office/drawing/2014/main" id="{2B081DBE-93FA-402E-8524-8A177A742B8F}"/>
                </a:ext>
              </a:extLst>
            </p:cNvPr>
            <p:cNvSpPr/>
            <p:nvPr/>
          </p:nvSpPr>
          <p:spPr>
            <a:xfrm>
              <a:off x="4347877" y="2476402"/>
              <a:ext cx="8539" cy="691694"/>
            </a:xfrm>
            <a:custGeom>
              <a:avLst/>
              <a:gdLst/>
              <a:ahLst/>
              <a:cxnLst/>
              <a:rect l="0" t="0" r="0" b="0"/>
              <a:pathLst>
                <a:path w="8539" h="691694">
                  <a:moveTo>
                    <a:pt x="0" y="0"/>
                  </a:moveTo>
                  <a:lnTo>
                    <a:pt x="0" y="691694"/>
                  </a:lnTo>
                </a:path>
              </a:pathLst>
            </a:custGeom>
            <a:noFill/>
            <a:ln w="12809">
              <a:solidFill>
                <a:srgbClr val="808080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6CE4DE8-DB67-4FC0-A163-73E734C8DD22}"/>
                </a:ext>
              </a:extLst>
            </p:cNvPr>
            <p:cNvSpPr txBox="1"/>
            <p:nvPr/>
          </p:nvSpPr>
          <p:spPr>
            <a:xfrm>
              <a:off x="1735132" y="4209124"/>
              <a:ext cx="12781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Systems </a:t>
              </a:r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Analysis </a:t>
              </a:r>
              <a:r>
                <a:rPr sz="1200" b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Input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F8313B7-AEEA-4815-8B3E-438F74E3220C}"/>
                </a:ext>
              </a:extLst>
            </p:cNvPr>
            <p:cNvSpPr txBox="1"/>
            <p:nvPr/>
          </p:nvSpPr>
          <p:spPr>
            <a:xfrm>
              <a:off x="5769574" y="4820537"/>
              <a:ext cx="10259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sz="1200" b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Risk </a:t>
              </a:r>
              <a:endParaRPr lang="en-US" altLang="ko-KR" sz="1200" b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sz="1200" b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Quantification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472A0BF-A2A0-47E4-AAE0-A07A93C635D1}"/>
                </a:ext>
              </a:extLst>
            </p:cNvPr>
            <p:cNvSpPr txBox="1"/>
            <p:nvPr/>
          </p:nvSpPr>
          <p:spPr>
            <a:xfrm>
              <a:off x="5936531" y="3580952"/>
              <a:ext cx="92172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Fragility Input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46A1D8-0A40-412E-8715-8115F751AED8}"/>
                </a:ext>
              </a:extLst>
            </p:cNvPr>
            <p:cNvSpPr txBox="1"/>
            <p:nvPr/>
          </p:nvSpPr>
          <p:spPr>
            <a:xfrm>
              <a:off x="3484231" y="5656305"/>
              <a:ext cx="18617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Risk Assessment</a:t>
              </a:r>
              <a:r>
                <a:rPr lang="en-US" sz="1200" b="1"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Results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520ED46-A4C5-4FE0-969F-FEA797B5A25B}"/>
                </a:ext>
              </a:extLst>
            </p:cNvPr>
            <p:cNvSpPr txBox="1"/>
            <p:nvPr/>
          </p:nvSpPr>
          <p:spPr>
            <a:xfrm>
              <a:off x="4118536" y="5335259"/>
              <a:ext cx="50654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AC2A864-1C63-4237-A9D2-3E03CB2241E6}"/>
                </a:ext>
              </a:extLst>
            </p:cNvPr>
            <p:cNvSpPr txBox="1"/>
            <p:nvPr/>
          </p:nvSpPr>
          <p:spPr>
            <a:xfrm>
              <a:off x="1934971" y="2891001"/>
              <a:ext cx="8784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Hazard Input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A910A2A-5C7C-4218-8ABA-633E89B3295D}"/>
                </a:ext>
              </a:extLst>
            </p:cNvPr>
            <p:cNvSpPr txBox="1"/>
            <p:nvPr/>
          </p:nvSpPr>
          <p:spPr>
            <a:xfrm>
              <a:off x="4178789" y="2386653"/>
              <a:ext cx="3783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200" b="1"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endParaRPr sz="1200" b="1"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C250E42-81E8-4E08-80ED-65F74B485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6497" y="2052302"/>
              <a:ext cx="1055395" cy="817177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E0C29B-8BE0-4465-A883-45CB4FF18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4274" y="2522679"/>
              <a:ext cx="1277029" cy="100702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E938DF9C-18BF-479C-9CD9-E3A8EFD25A9A}"/>
                    </a:ext>
                  </a:extLst>
                </p:cNvPr>
                <p:cNvSpPr/>
                <p:nvPr/>
              </p:nvSpPr>
              <p:spPr>
                <a:xfrm>
                  <a:off x="5302436" y="4298532"/>
                  <a:ext cx="2078902" cy="5032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ko-KR" altLang="en-US" sz="1200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subSup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ko-KR" altLang="en-US" sz="12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ko-KR" altLang="en-US" sz="1200" i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ko-KR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ko-KR" alt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200" i="1">
                                        <a:latin typeface="Cambria Math" panose="02040503050406030204" pitchFamily="18" charset="0"/>
                                      </a:rPr>
                                      <m:t>𝑑𝐻</m:t>
                                    </m:r>
                                    <m:d>
                                      <m:dPr>
                                        <m:ctrlPr>
                                          <a:rPr lang="ko-KR" alt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sz="1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ko-KR" altLang="en-US" sz="1200" i="1">
                                        <a:latin typeface="Cambria Math" panose="02040503050406030204" pitchFamily="18" charset="0"/>
                                      </a:rPr>
                                      <m:t>𝑑𝑎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𝑑𝑎</m:t>
                            </m:r>
                          </m:e>
                        </m:nary>
                      </m:oMath>
                    </m:oMathPara>
                  </a14:m>
                  <a:endParaRPr lang="ko-KR" altLang="en-US" sz="12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E938DF9C-18BF-479C-9CD9-E3A8EFD25A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2436" y="4298532"/>
                  <a:ext cx="2078902" cy="503215"/>
                </a:xfrm>
                <a:prstGeom prst="rect">
                  <a:avLst/>
                </a:prstGeom>
                <a:blipFill>
                  <a:blip r:embed="rId5"/>
                  <a:stretch>
                    <a:fillRect l="-2346" t="-144578" b="-2120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668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6ADD488-A12C-4258-BD4C-216E68C61427}"/>
              </a:ext>
            </a:extLst>
          </p:cNvPr>
          <p:cNvGrpSpPr/>
          <p:nvPr/>
        </p:nvGrpSpPr>
        <p:grpSpPr>
          <a:xfrm>
            <a:off x="29085" y="362969"/>
            <a:ext cx="12220044" cy="6433839"/>
            <a:chOff x="29085" y="362969"/>
            <a:chExt cx="12220044" cy="6433839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7351582C-10C8-4B91-97F8-5C2F165E9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86" y="362969"/>
              <a:ext cx="12133828" cy="643383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027929A-EF65-45BA-9B47-B1AC4230536B}"/>
                </a:ext>
              </a:extLst>
            </p:cNvPr>
            <p:cNvSpPr/>
            <p:nvPr/>
          </p:nvSpPr>
          <p:spPr>
            <a:xfrm>
              <a:off x="29087" y="727788"/>
              <a:ext cx="1958334" cy="299073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C03BF8A-D0AA-4B78-AEBC-FD8FBC3F26EB}"/>
                </a:ext>
              </a:extLst>
            </p:cNvPr>
            <p:cNvSpPr/>
            <p:nvPr/>
          </p:nvSpPr>
          <p:spPr>
            <a:xfrm>
              <a:off x="29085" y="3772590"/>
              <a:ext cx="1958335" cy="3024218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A08F60-D97C-40A4-9824-E853FFDF55FC}"/>
                </a:ext>
              </a:extLst>
            </p:cNvPr>
            <p:cNvSpPr txBox="1"/>
            <p:nvPr/>
          </p:nvSpPr>
          <p:spPr>
            <a:xfrm>
              <a:off x="1550117" y="3348066"/>
              <a:ext cx="506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AAAFC8-85E5-46DD-AF5F-F96AA41D151E}"/>
                </a:ext>
              </a:extLst>
            </p:cNvPr>
            <p:cNvSpPr txBox="1"/>
            <p:nvPr/>
          </p:nvSpPr>
          <p:spPr>
            <a:xfrm>
              <a:off x="1550116" y="6355737"/>
              <a:ext cx="506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B4DC017-7E62-4E59-ACDA-D0E86F0C0B4D}"/>
                </a:ext>
              </a:extLst>
            </p:cNvPr>
            <p:cNvSpPr/>
            <p:nvPr/>
          </p:nvSpPr>
          <p:spPr>
            <a:xfrm>
              <a:off x="9997440" y="727788"/>
              <a:ext cx="2188340" cy="38628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75BEA0-02BB-466D-93F3-C2641690F3CF}"/>
                </a:ext>
              </a:extLst>
            </p:cNvPr>
            <p:cNvSpPr txBox="1"/>
            <p:nvPr/>
          </p:nvSpPr>
          <p:spPr>
            <a:xfrm>
              <a:off x="11742440" y="4220539"/>
              <a:ext cx="506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29DED76-E7C7-4E9D-91CC-86F952AE842F}"/>
                </a:ext>
              </a:extLst>
            </p:cNvPr>
            <p:cNvSpPr/>
            <p:nvPr/>
          </p:nvSpPr>
          <p:spPr>
            <a:xfrm>
              <a:off x="9998905" y="4655976"/>
              <a:ext cx="2186875" cy="2140832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94EEDD-D367-4ADB-B141-0B85600C9A36}"/>
                </a:ext>
              </a:extLst>
            </p:cNvPr>
            <p:cNvSpPr txBox="1"/>
            <p:nvPr/>
          </p:nvSpPr>
          <p:spPr>
            <a:xfrm>
              <a:off x="11742440" y="6386031"/>
              <a:ext cx="506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ko-KR" alt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F983799-CBCB-4BAC-B8C2-E5099491D3DD}"/>
                </a:ext>
              </a:extLst>
            </p:cNvPr>
            <p:cNvSpPr/>
            <p:nvPr/>
          </p:nvSpPr>
          <p:spPr>
            <a:xfrm>
              <a:off x="1987420" y="727788"/>
              <a:ext cx="8010019" cy="606902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0B6F9B-ED77-4C10-AC8D-0EBE33B469DC}"/>
                </a:ext>
              </a:extLst>
            </p:cNvPr>
            <p:cNvSpPr txBox="1"/>
            <p:nvPr/>
          </p:nvSpPr>
          <p:spPr>
            <a:xfrm>
              <a:off x="9531906" y="6365068"/>
              <a:ext cx="506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ko-KR" alt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8FBB52-7387-4F70-993B-D9E7222EDCD6}"/>
              </a:ext>
            </a:extLst>
          </p:cNvPr>
          <p:cNvSpPr txBox="1"/>
          <p:nvPr/>
        </p:nvSpPr>
        <p:spPr>
          <a:xfrm>
            <a:off x="0" y="0"/>
            <a:ext cx="3694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Matlab GUI Application Configuration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97935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4CB373-D2B4-4D37-8054-2EAF1966DF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38"/>
          <a:stretch/>
        </p:blipFill>
        <p:spPr>
          <a:xfrm>
            <a:off x="1533996" y="444438"/>
            <a:ext cx="9124009" cy="5966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2695CA-F5E4-487F-852D-5937BE3EA91B}"/>
              </a:ext>
            </a:extLst>
          </p:cNvPr>
          <p:cNvSpPr txBox="1"/>
          <p:nvPr/>
        </p:nvSpPr>
        <p:spPr>
          <a:xfrm>
            <a:off x="0" y="6475445"/>
            <a:ext cx="1219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Ellingwood, B. (1990). Validation studies of seismic PRAs. Nuclear Engineering and Design, 123(2-3), 189-196.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Kim, J. H., Choi, I. K., &amp; Park, J. H. (2011). Uncertainty analysis of system fragility for seismic safety evaluation of NPP.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and Design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241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(7), 2570-2579.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Kwag, S., Choi, E., Eem, S., Ha, J. G., &amp; Hahm, D. (2021). Toward improvement of sampling-based seismic probabilistic safety assessment method for nuclear facilities using composite distribution and adaptive discretization. Reliability Engineering &amp; System Safety, 215, 107809.</a:t>
            </a:r>
            <a:endParaRPr lang="ko-KR" alt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9227975" y="0"/>
            <a:ext cx="2964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(Seismic) Hazard Curves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6123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9227975" y="0"/>
            <a:ext cx="2964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(Seismic) Fragility Curves</a:t>
            </a: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18A49F-1C67-462F-AAF0-4C4BB4B4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220"/>
            <a:ext cx="12192000" cy="4399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E140A5-15A2-4D3B-85C6-EEBDFA33DE97}"/>
              </a:ext>
            </a:extLst>
          </p:cNvPr>
          <p:cNvSpPr txBox="1"/>
          <p:nvPr/>
        </p:nvSpPr>
        <p:spPr>
          <a:xfrm>
            <a:off x="0" y="6475445"/>
            <a:ext cx="1219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Ellingwood, B. (1990). Validation studies of seismic PRAs. Nuclear Engineering and Design, 123(2-3), 189-196.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Kim, J. H., Choi, I. K., &amp; Park, J. H. (2011). Uncertainty analysis of system fragility for seismic safety evaluation of NPP.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and Design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241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(7), 2570-2579.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Kwag, S., Choi, E., Eem, S., Ha, J. G., &amp; Hahm, D. (2021). Toward improvement of sampling-based seismic probabilistic safety assessment method for nuclear facilities using composite distribution and adaptive discretization. Reliability Engineering &amp; System Safety, 215, 107809.</a:t>
            </a:r>
            <a:endParaRPr lang="ko-KR" alt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1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9227975" y="0"/>
            <a:ext cx="2964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Systems Analysis Models</a:t>
            </a:r>
            <a:endParaRPr lang="ko-KR" alt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140A5-15A2-4D3B-85C6-EEBDFA33DE97}"/>
              </a:ext>
            </a:extLst>
          </p:cNvPr>
          <p:cNvSpPr txBox="1"/>
          <p:nvPr/>
        </p:nvSpPr>
        <p:spPr>
          <a:xfrm>
            <a:off x="0" y="6475445"/>
            <a:ext cx="1219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Ellingwood, B. (1990). Validation studies of seismic PRAs. Nuclear Engineering and Design, 123(2-3), 189-196.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Kim, J. H., Choi, I. K., &amp; Park, J. H. (2011). Uncertainty analysis of system fragility for seismic safety evaluation of NPP.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and Design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ko-KR" sz="700" i="1">
                <a:latin typeface="Times New Roman" panose="02020603050405020304" pitchFamily="18" charset="0"/>
                <a:cs typeface="Times New Roman" panose="02020603050405020304" pitchFamily="18" charset="0"/>
              </a:rPr>
              <a:t>241</a:t>
            </a:r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(7), 2570-2579.</a:t>
            </a:r>
          </a:p>
          <a:p>
            <a:r>
              <a:rPr lang="en-US" altLang="ko-KR" sz="700">
                <a:latin typeface="Times New Roman" panose="02020603050405020304" pitchFamily="18" charset="0"/>
                <a:cs typeface="Times New Roman" panose="02020603050405020304" pitchFamily="18" charset="0"/>
              </a:rPr>
              <a:t>Kwag, S., Choi, E., Eem, S., Ha, J. G., &amp; Hahm, D. (2021). Toward improvement of sampling-based seismic probabilistic safety assessment method for nuclear facilities using composite distribution and adaptive discretization. Reliability Engineering &amp; System Safety, 215, 107809.</a:t>
            </a:r>
            <a:endParaRPr lang="ko-KR" alt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9F6320-A4B5-4CBF-BEB4-39B6D9377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1" t="1497"/>
          <a:stretch/>
        </p:blipFill>
        <p:spPr>
          <a:xfrm>
            <a:off x="0" y="779831"/>
            <a:ext cx="6515931" cy="522355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95C37E3-AC0B-4724-856A-0384374EC969}"/>
              </a:ext>
            </a:extLst>
          </p:cNvPr>
          <p:cNvGrpSpPr/>
          <p:nvPr/>
        </p:nvGrpSpPr>
        <p:grpSpPr>
          <a:xfrm>
            <a:off x="6478607" y="649337"/>
            <a:ext cx="5713393" cy="3374728"/>
            <a:chOff x="6400331" y="413240"/>
            <a:chExt cx="5713393" cy="33747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3CC317F-B8EE-4256-9A88-7A82CFBED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331" y="413240"/>
              <a:ext cx="5713393" cy="300334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8BB7B24-BD2E-49ED-9C16-F354FA955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8993" y="3522046"/>
              <a:ext cx="5654733" cy="265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80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7944465" y="0"/>
            <a:ext cx="4247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Seismic Harzard Curve Input &amp; Confirmation</a:t>
            </a:r>
            <a:endParaRPr lang="ko-KR" altLang="en-US" sz="140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A38C93B-2C63-437D-B640-26FECF2C7F58}"/>
              </a:ext>
            </a:extLst>
          </p:cNvPr>
          <p:cNvGrpSpPr/>
          <p:nvPr/>
        </p:nvGrpSpPr>
        <p:grpSpPr>
          <a:xfrm>
            <a:off x="0" y="353610"/>
            <a:ext cx="12192000" cy="6471040"/>
            <a:chOff x="0" y="353610"/>
            <a:chExt cx="12192000" cy="647104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8740288-99B9-4408-BC21-26D0214EC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3610"/>
              <a:ext cx="12192000" cy="647104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BEEBA56-48B6-465B-94FA-4784DAE13C8D}"/>
                </a:ext>
              </a:extLst>
            </p:cNvPr>
            <p:cNvSpPr/>
            <p:nvPr/>
          </p:nvSpPr>
          <p:spPr>
            <a:xfrm>
              <a:off x="0" y="715871"/>
              <a:ext cx="1976284" cy="309904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CEF3F937-9A02-410A-ABB4-1056445FA20B}"/>
                </a:ext>
              </a:extLst>
            </p:cNvPr>
            <p:cNvSpPr/>
            <p:nvPr/>
          </p:nvSpPr>
          <p:spPr>
            <a:xfrm>
              <a:off x="2005783" y="1396564"/>
              <a:ext cx="270587" cy="610119"/>
            </a:xfrm>
            <a:prstGeom prst="rightArrow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478F12-AD3A-4D76-8A4C-F51C597DFAB5}"/>
                </a:ext>
              </a:extLst>
            </p:cNvPr>
            <p:cNvSpPr txBox="1"/>
            <p:nvPr/>
          </p:nvSpPr>
          <p:spPr>
            <a:xfrm>
              <a:off x="2654711" y="4242975"/>
              <a:ext cx="5152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Seismic Hazard Curve for Piedomont Mb,max=5.8</a:t>
              </a:r>
              <a:endParaRPr lang="ko-KR" altLang="en-US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4FBA07B-BFA7-4B3A-9708-6DE9158F6283}"/>
                </a:ext>
              </a:extLst>
            </p:cNvPr>
            <p:cNvSpPr/>
            <p:nvPr/>
          </p:nvSpPr>
          <p:spPr>
            <a:xfrm>
              <a:off x="2005783" y="938783"/>
              <a:ext cx="932489" cy="195073"/>
            </a:xfrm>
            <a:prstGeom prst="rect">
              <a:avLst/>
            </a:prstGeom>
            <a:solidFill>
              <a:srgbClr val="0000FF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79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6951407" y="0"/>
            <a:ext cx="524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Component Seismic Fragility Curve Input &amp; Confirmation</a:t>
            </a:r>
            <a:endParaRPr lang="ko-KR" altLang="en-US" sz="140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FAE65C-4478-4EF7-8EA3-51B10548F870}"/>
              </a:ext>
            </a:extLst>
          </p:cNvPr>
          <p:cNvGrpSpPr/>
          <p:nvPr/>
        </p:nvGrpSpPr>
        <p:grpSpPr>
          <a:xfrm>
            <a:off x="0" y="393316"/>
            <a:ext cx="12192000" cy="6479532"/>
            <a:chOff x="0" y="393316"/>
            <a:chExt cx="12192000" cy="647953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9CE24EC-79DB-411F-89AD-B33C42A06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93316"/>
              <a:ext cx="12192000" cy="6464684"/>
            </a:xfrm>
            <a:prstGeom prst="rect">
              <a:avLst/>
            </a:prstGeom>
          </p:spPr>
        </p:pic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CEF3F937-9A02-410A-ABB4-1056445FA20B}"/>
                </a:ext>
              </a:extLst>
            </p:cNvPr>
            <p:cNvSpPr/>
            <p:nvPr/>
          </p:nvSpPr>
          <p:spPr>
            <a:xfrm>
              <a:off x="2015866" y="6090797"/>
              <a:ext cx="270587" cy="610119"/>
            </a:xfrm>
            <a:prstGeom prst="right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478F12-AD3A-4D76-8A4C-F51C597DFAB5}"/>
                </a:ext>
              </a:extLst>
            </p:cNvPr>
            <p:cNvSpPr txBox="1"/>
            <p:nvPr/>
          </p:nvSpPr>
          <p:spPr>
            <a:xfrm>
              <a:off x="2217627" y="6407124"/>
              <a:ext cx="5893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Component Seismic Fragility Curves for LGS NPP SSCs</a:t>
              </a:r>
              <a:endParaRPr lang="ko-KR" altLang="en-US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4B4A6A3-8B69-4028-9DB9-29D58033A9DC}"/>
                </a:ext>
              </a:extLst>
            </p:cNvPr>
            <p:cNvSpPr/>
            <p:nvPr/>
          </p:nvSpPr>
          <p:spPr>
            <a:xfrm>
              <a:off x="1" y="3880744"/>
              <a:ext cx="1987420" cy="2992104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560273F-252B-4E9B-B14A-59172F3ACFB3}"/>
                </a:ext>
              </a:extLst>
            </p:cNvPr>
            <p:cNvSpPr/>
            <p:nvPr/>
          </p:nvSpPr>
          <p:spPr>
            <a:xfrm>
              <a:off x="2943584" y="985585"/>
              <a:ext cx="1517926" cy="187895"/>
            </a:xfrm>
            <a:prstGeom prst="rect">
              <a:avLst/>
            </a:prstGeom>
            <a:solidFill>
              <a:srgbClr val="7030A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067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6951407" y="0"/>
            <a:ext cx="524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Systems Analysis Model Input &amp; System Fragility Results</a:t>
            </a:r>
            <a:endParaRPr lang="ko-KR" altLang="en-US" sz="14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73C5396-1E31-4467-ABE6-BDD23AB2DBA1}"/>
              </a:ext>
            </a:extLst>
          </p:cNvPr>
          <p:cNvGrpSpPr/>
          <p:nvPr/>
        </p:nvGrpSpPr>
        <p:grpSpPr>
          <a:xfrm>
            <a:off x="0" y="327656"/>
            <a:ext cx="12192000" cy="6458327"/>
            <a:chOff x="0" y="327656"/>
            <a:chExt cx="12192000" cy="64583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CE69BFE-BD08-488A-B3D7-1B9669167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27656"/>
              <a:ext cx="12192000" cy="645832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13FADE1-752F-4487-8598-6EABC796846F}"/>
                </a:ext>
              </a:extLst>
            </p:cNvPr>
            <p:cNvSpPr/>
            <p:nvPr/>
          </p:nvSpPr>
          <p:spPr>
            <a:xfrm>
              <a:off x="9979742" y="697789"/>
              <a:ext cx="2212258" cy="38938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0152FC8B-21A0-4EB2-B5C5-4EA32D85D409}"/>
                </a:ext>
              </a:extLst>
            </p:cNvPr>
            <p:cNvSpPr/>
            <p:nvPr/>
          </p:nvSpPr>
          <p:spPr>
            <a:xfrm rot="10800000">
              <a:off x="9688835" y="3577139"/>
              <a:ext cx="270587" cy="610119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94B735-C6CD-4193-9E04-6D4C2F589D73}"/>
                </a:ext>
              </a:extLst>
            </p:cNvPr>
            <p:cNvSpPr txBox="1"/>
            <p:nvPr/>
          </p:nvSpPr>
          <p:spPr>
            <a:xfrm>
              <a:off x="5044074" y="1086118"/>
              <a:ext cx="5893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Two Types of Systems Analysis Models: </a:t>
              </a:r>
            </a:p>
            <a:p>
              <a:r>
                <a:rPr lang="en-US" altLang="ko-KR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 Logic Equation, and (2) UMB-type Equation</a:t>
              </a:r>
              <a:endParaRPr lang="ko-KR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699809C-B9EE-44BC-9DC6-2709151B783A}"/>
                </a:ext>
              </a:extLst>
            </p:cNvPr>
            <p:cNvSpPr/>
            <p:nvPr/>
          </p:nvSpPr>
          <p:spPr>
            <a:xfrm>
              <a:off x="4457752" y="912801"/>
              <a:ext cx="1348688" cy="187895"/>
            </a:xfrm>
            <a:prstGeom prst="rect">
              <a:avLst/>
            </a:prstGeom>
            <a:solidFill>
              <a:srgbClr val="FF000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090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6951407" y="0"/>
            <a:ext cx="524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Risk Quantification Input &amp; System Risk Results</a:t>
            </a:r>
            <a:endParaRPr lang="ko-KR" altLang="en-US" sz="14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0E9801B-A655-4036-8D28-28480E095873}"/>
              </a:ext>
            </a:extLst>
          </p:cNvPr>
          <p:cNvGrpSpPr/>
          <p:nvPr/>
        </p:nvGrpSpPr>
        <p:grpSpPr>
          <a:xfrm>
            <a:off x="0" y="359218"/>
            <a:ext cx="12192000" cy="6464684"/>
            <a:chOff x="0" y="359218"/>
            <a:chExt cx="12192000" cy="646468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C6E4CE4-0552-4D9D-BC9E-A76C3B793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9218"/>
              <a:ext cx="12192000" cy="6464684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3BE909-0931-43E7-8DD7-7A7DF54206FE}"/>
                </a:ext>
              </a:extLst>
            </p:cNvPr>
            <p:cNvSpPr/>
            <p:nvPr/>
          </p:nvSpPr>
          <p:spPr>
            <a:xfrm>
              <a:off x="9998905" y="4632960"/>
              <a:ext cx="2186875" cy="2190942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BF71751C-B6F8-4001-87B3-0015E095DEAC}"/>
                </a:ext>
              </a:extLst>
            </p:cNvPr>
            <p:cNvSpPr/>
            <p:nvPr/>
          </p:nvSpPr>
          <p:spPr>
            <a:xfrm rot="10800000">
              <a:off x="9642824" y="5888663"/>
              <a:ext cx="270587" cy="610119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797F61-5825-4AA3-9C7D-0B526EADC62C}"/>
                </a:ext>
              </a:extLst>
            </p:cNvPr>
            <p:cNvSpPr txBox="1"/>
            <p:nvPr/>
          </p:nvSpPr>
          <p:spPr>
            <a:xfrm>
              <a:off x="3500284" y="6273476"/>
              <a:ext cx="6359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Quantification Bar Result using Three Different Solvers</a:t>
              </a:r>
              <a:endParaRPr lang="ko-KR" altLang="en-US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0350F9-3CDA-4745-B93F-DE58556170B9}"/>
                </a:ext>
              </a:extLst>
            </p:cNvPr>
            <p:cNvSpPr/>
            <p:nvPr/>
          </p:nvSpPr>
          <p:spPr>
            <a:xfrm>
              <a:off x="5801412" y="948361"/>
              <a:ext cx="1318208" cy="187895"/>
            </a:xfrm>
            <a:prstGeom prst="rect">
              <a:avLst/>
            </a:prstGeom>
            <a:solidFill>
              <a:srgbClr val="00B05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57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28772E-2267-4FBA-86F4-12A09A887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472"/>
            <a:ext cx="12192000" cy="64646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Example: LGS Nuclear Power Plant</a:t>
            </a:r>
            <a:endParaRPr lang="ko-KR" altLang="en-US" sz="1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1EA8B-62D8-47C5-BFF5-1D276AE7857C}"/>
              </a:ext>
            </a:extLst>
          </p:cNvPr>
          <p:cNvSpPr txBox="1"/>
          <p:nvPr/>
        </p:nvSpPr>
        <p:spPr>
          <a:xfrm>
            <a:off x="6951407" y="0"/>
            <a:ext cx="524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Risk Quantification Input &amp; System Risk Results</a:t>
            </a:r>
            <a:endParaRPr lang="ko-KR" altLang="en-US" sz="1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3BE909-0931-43E7-8DD7-7A7DF54206FE}"/>
              </a:ext>
            </a:extLst>
          </p:cNvPr>
          <p:cNvSpPr/>
          <p:nvPr/>
        </p:nvSpPr>
        <p:spPr>
          <a:xfrm>
            <a:off x="9998905" y="4632960"/>
            <a:ext cx="2186875" cy="2190942"/>
          </a:xfrm>
          <a:prstGeom prst="rect">
            <a:avLst/>
          </a:prstGeom>
          <a:noFill/>
          <a:ln w="19050">
            <a:solidFill>
              <a:srgbClr val="00B05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BF71751C-B6F8-4001-87B3-0015E095DEAC}"/>
              </a:ext>
            </a:extLst>
          </p:cNvPr>
          <p:cNvSpPr/>
          <p:nvPr/>
        </p:nvSpPr>
        <p:spPr>
          <a:xfrm rot="10800000">
            <a:off x="9642824" y="4502315"/>
            <a:ext cx="270587" cy="61011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0350F9-3CDA-4745-B93F-DE58556170B9}"/>
              </a:ext>
            </a:extLst>
          </p:cNvPr>
          <p:cNvSpPr/>
          <p:nvPr/>
        </p:nvSpPr>
        <p:spPr>
          <a:xfrm>
            <a:off x="7122212" y="948361"/>
            <a:ext cx="1412188" cy="187895"/>
          </a:xfrm>
          <a:prstGeom prst="rect">
            <a:avLst/>
          </a:prstGeom>
          <a:solidFill>
            <a:srgbClr val="00B05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A6B91-3199-426F-A3FA-A28FAB57CA5B}"/>
              </a:ext>
            </a:extLst>
          </p:cNvPr>
          <p:cNvSpPr txBox="1"/>
          <p:nvPr/>
        </p:nvSpPr>
        <p:spPr>
          <a:xfrm>
            <a:off x="3129391" y="4042345"/>
            <a:ext cx="635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Quantification Table Result using Three Different Solvers</a:t>
            </a:r>
            <a:endParaRPr lang="ko-KR" altLang="en-US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320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46EA16-7D51-4313-8FA0-0C658B9CFDD7}"/>
              </a:ext>
            </a:extLst>
          </p:cNvPr>
          <p:cNvSpPr txBox="1"/>
          <p:nvPr/>
        </p:nvSpPr>
        <p:spPr>
          <a:xfrm>
            <a:off x="2649660" y="3005476"/>
            <a:ext cx="7327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/>
              <a:t>Appendix. File Type and Import for Example Case</a:t>
            </a:r>
            <a:endParaRPr lang="ko-KR" altLang="en-US" sz="3600" b="1"/>
          </a:p>
        </p:txBody>
      </p:sp>
    </p:spTree>
    <p:extLst>
      <p:ext uri="{BB962C8B-B14F-4D97-AF65-F5344CB8AC3E}">
        <p14:creationId xmlns:p14="http://schemas.microsoft.com/office/powerpoint/2010/main" val="196647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CDAFC2-D102-41FF-906A-85E7C33B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292" y="1171042"/>
            <a:ext cx="5114030" cy="54541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Appendix. File Type and Import</a:t>
            </a:r>
            <a:endParaRPr lang="ko-KR" altLang="en-US" sz="1400" b="1"/>
          </a:p>
        </p:txBody>
      </p:sp>
      <p:pic>
        <p:nvPicPr>
          <p:cNvPr id="1026" name="Picture 2" descr="File:Microsoft Office Excel (2019–2025).svg - Wikimedia Commons">
            <a:extLst>
              <a:ext uri="{FF2B5EF4-FFF2-40B4-BE49-F238E27FC236}">
                <a16:creationId xmlns:a16="http://schemas.microsoft.com/office/drawing/2014/main" id="{F086357D-0B80-4DAD-9AEB-F77DB4CE2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6278"/>
            <a:ext cx="995158" cy="92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3E89B-528C-443E-8612-6BD6189C622D}"/>
              </a:ext>
            </a:extLst>
          </p:cNvPr>
          <p:cNvSpPr txBox="1"/>
          <p:nvPr/>
        </p:nvSpPr>
        <p:spPr>
          <a:xfrm>
            <a:off x="7225297" y="643209"/>
            <a:ext cx="322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Input_Data_LGS1.xlsx</a:t>
            </a:r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0234712-03F6-4A36-B670-A116D5F504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3528"/>
          <a:stretch/>
        </p:blipFill>
        <p:spPr>
          <a:xfrm>
            <a:off x="1302094" y="466278"/>
            <a:ext cx="1926299" cy="6201007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EF95AE1-5D41-4F70-81DF-D2B4AE6166B8}"/>
              </a:ext>
            </a:extLst>
          </p:cNvPr>
          <p:cNvSpPr/>
          <p:nvPr/>
        </p:nvSpPr>
        <p:spPr>
          <a:xfrm rot="10800000">
            <a:off x="2773679" y="3429000"/>
            <a:ext cx="728979" cy="4521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83DCB-4A10-4E65-91C8-213908D4DA3E}"/>
              </a:ext>
            </a:extLst>
          </p:cNvPr>
          <p:cNvSpPr txBox="1"/>
          <p:nvPr/>
        </p:nvSpPr>
        <p:spPr>
          <a:xfrm>
            <a:off x="3843936" y="3193395"/>
            <a:ext cx="2217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Button Click and Import Sheet1 of the EXCEL file.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639D4-1220-4A81-9C92-8A804A53C5C9}"/>
              </a:ext>
            </a:extLst>
          </p:cNvPr>
          <p:cNvSpPr txBox="1"/>
          <p:nvPr/>
        </p:nvSpPr>
        <p:spPr>
          <a:xfrm>
            <a:off x="7944465" y="0"/>
            <a:ext cx="4247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Seismic Harzard Curve Input</a:t>
            </a:r>
            <a:endParaRPr lang="ko-KR" altLang="en-US" sz="14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9D09FF-847E-4219-80D8-88104E00CA41}"/>
              </a:ext>
            </a:extLst>
          </p:cNvPr>
          <p:cNvSpPr/>
          <p:nvPr/>
        </p:nvSpPr>
        <p:spPr>
          <a:xfrm>
            <a:off x="1778000" y="3533140"/>
            <a:ext cx="952500" cy="2032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923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9415F6-CC04-4138-B514-BE0A83AA20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99" r="8009"/>
          <a:stretch/>
        </p:blipFill>
        <p:spPr>
          <a:xfrm>
            <a:off x="4507332" y="929640"/>
            <a:ext cx="7499473" cy="5810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Appendix. File Type and Import</a:t>
            </a:r>
            <a:endParaRPr lang="ko-KR" altLang="en-US" sz="1400" b="1"/>
          </a:p>
        </p:txBody>
      </p:sp>
      <p:pic>
        <p:nvPicPr>
          <p:cNvPr id="1026" name="Picture 2" descr="File:Microsoft Office Excel (2019–2025).svg - Wikimedia Commons">
            <a:extLst>
              <a:ext uri="{FF2B5EF4-FFF2-40B4-BE49-F238E27FC236}">
                <a16:creationId xmlns:a16="http://schemas.microsoft.com/office/drawing/2014/main" id="{F086357D-0B80-4DAD-9AEB-F77DB4CE2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341" y="307777"/>
            <a:ext cx="995158" cy="92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3E89B-528C-443E-8612-6BD6189C622D}"/>
              </a:ext>
            </a:extLst>
          </p:cNvPr>
          <p:cNvSpPr txBox="1"/>
          <p:nvPr/>
        </p:nvSpPr>
        <p:spPr>
          <a:xfrm>
            <a:off x="5178399" y="434042"/>
            <a:ext cx="322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Input_Data_LGS1.xlsx</a:t>
            </a:r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0234712-03F6-4A36-B670-A116D5F504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3528"/>
          <a:stretch/>
        </p:blipFill>
        <p:spPr>
          <a:xfrm>
            <a:off x="283520" y="466278"/>
            <a:ext cx="1926299" cy="6201007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EF95AE1-5D41-4F70-81DF-D2B4AE6166B8}"/>
              </a:ext>
            </a:extLst>
          </p:cNvPr>
          <p:cNvSpPr/>
          <p:nvPr/>
        </p:nvSpPr>
        <p:spPr>
          <a:xfrm rot="10800000">
            <a:off x="2326132" y="6303838"/>
            <a:ext cx="728979" cy="4521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83DCB-4A10-4E65-91C8-213908D4DA3E}"/>
              </a:ext>
            </a:extLst>
          </p:cNvPr>
          <p:cNvSpPr txBox="1"/>
          <p:nvPr/>
        </p:nvSpPr>
        <p:spPr>
          <a:xfrm>
            <a:off x="2289703" y="5217918"/>
            <a:ext cx="2217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Button Click and Import Sheet2 of the EXCEL file.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639D4-1220-4A81-9C92-8A804A53C5C9}"/>
              </a:ext>
            </a:extLst>
          </p:cNvPr>
          <p:cNvSpPr txBox="1"/>
          <p:nvPr/>
        </p:nvSpPr>
        <p:spPr>
          <a:xfrm>
            <a:off x="7944465" y="0"/>
            <a:ext cx="4247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Seismic Fragility Curve Input</a:t>
            </a:r>
            <a:endParaRPr lang="ko-KR" altLang="en-US" sz="14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9D09FF-847E-4219-80D8-88104E00CA41}"/>
              </a:ext>
            </a:extLst>
          </p:cNvPr>
          <p:cNvSpPr/>
          <p:nvPr/>
        </p:nvSpPr>
        <p:spPr>
          <a:xfrm>
            <a:off x="764323" y="6428298"/>
            <a:ext cx="952500" cy="2032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66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CAF1B55-7760-43D6-A844-1585D588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02" y="4104057"/>
            <a:ext cx="7462095" cy="2050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BDCC08-CFD6-48C6-9410-5D76F4B0F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02" y="1091201"/>
            <a:ext cx="7462095" cy="24747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8D91D-1849-4F27-8EB9-FEA66BB36408}"/>
              </a:ext>
            </a:extLst>
          </p:cNvPr>
          <p:cNvSpPr txBox="1"/>
          <p:nvPr/>
        </p:nvSpPr>
        <p:spPr>
          <a:xfrm>
            <a:off x="0" y="0"/>
            <a:ext cx="3228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Appendix. File Type and Import</a:t>
            </a:r>
            <a:endParaRPr lang="ko-KR" altLang="en-US" sz="1400" b="1"/>
          </a:p>
        </p:txBody>
      </p:sp>
      <p:pic>
        <p:nvPicPr>
          <p:cNvPr id="1026" name="Picture 2" descr="File:Microsoft Office Excel (2019–2025).svg - Wikimedia Commons">
            <a:extLst>
              <a:ext uri="{FF2B5EF4-FFF2-40B4-BE49-F238E27FC236}">
                <a16:creationId xmlns:a16="http://schemas.microsoft.com/office/drawing/2014/main" id="{F086357D-0B80-4DAD-9AEB-F77DB4CE2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341" y="307777"/>
            <a:ext cx="995158" cy="92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3E89B-528C-443E-8612-6BD6189C622D}"/>
              </a:ext>
            </a:extLst>
          </p:cNvPr>
          <p:cNvSpPr txBox="1"/>
          <p:nvPr/>
        </p:nvSpPr>
        <p:spPr>
          <a:xfrm>
            <a:off x="5178399" y="434042"/>
            <a:ext cx="322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Input_Data_LGS1.xlsx</a:t>
            </a:r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0234712-03F6-4A36-B670-A116D5F504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937" r="-244"/>
          <a:stretch/>
        </p:blipFill>
        <p:spPr>
          <a:xfrm>
            <a:off x="126203" y="554951"/>
            <a:ext cx="2140937" cy="6201007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EF95AE1-5D41-4F70-81DF-D2B4AE6166B8}"/>
              </a:ext>
            </a:extLst>
          </p:cNvPr>
          <p:cNvSpPr/>
          <p:nvPr/>
        </p:nvSpPr>
        <p:spPr>
          <a:xfrm rot="10800000">
            <a:off x="1902650" y="4291193"/>
            <a:ext cx="728979" cy="4521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83DCB-4A10-4E65-91C8-213908D4DA3E}"/>
              </a:ext>
            </a:extLst>
          </p:cNvPr>
          <p:cNvSpPr txBox="1"/>
          <p:nvPr/>
        </p:nvSpPr>
        <p:spPr>
          <a:xfrm>
            <a:off x="2267139" y="3422646"/>
            <a:ext cx="2217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Button Click and Import Sheet3 of the EXCEL file.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8639D4-1220-4A81-9C92-8A804A53C5C9}"/>
              </a:ext>
            </a:extLst>
          </p:cNvPr>
          <p:cNvSpPr txBox="1"/>
          <p:nvPr/>
        </p:nvSpPr>
        <p:spPr>
          <a:xfrm>
            <a:off x="7944465" y="0"/>
            <a:ext cx="4247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/>
              <a:t>Systems Analysis Model Input</a:t>
            </a:r>
            <a:endParaRPr lang="ko-KR" altLang="en-US" sz="14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9D09FF-847E-4219-80D8-88104E00CA41}"/>
              </a:ext>
            </a:extLst>
          </p:cNvPr>
          <p:cNvSpPr/>
          <p:nvPr/>
        </p:nvSpPr>
        <p:spPr>
          <a:xfrm>
            <a:off x="636296" y="4401789"/>
            <a:ext cx="1075664" cy="2032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50833-EBEF-40AF-8CA4-20FF3E770DED}"/>
              </a:ext>
            </a:extLst>
          </p:cNvPr>
          <p:cNvSpPr txBox="1"/>
          <p:nvPr/>
        </p:nvSpPr>
        <p:spPr>
          <a:xfrm>
            <a:off x="7918189" y="352738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⁞</a:t>
            </a:r>
            <a:endParaRPr lang="ko-KR" altLang="en-US" sz="24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F629CF-09F0-48A0-A69D-7F6E25EF1B1D}"/>
              </a:ext>
            </a:extLst>
          </p:cNvPr>
          <p:cNvSpPr txBox="1"/>
          <p:nvPr/>
        </p:nvSpPr>
        <p:spPr>
          <a:xfrm>
            <a:off x="4763419" y="3076430"/>
            <a:ext cx="722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0000FF"/>
                </a:solidFill>
              </a:rPr>
              <a:t>“Event Tree and Fault Tree-type” Model -&gt; “Logical Expression”</a:t>
            </a:r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7B0800-5F33-4184-A326-042DA99F8A66}"/>
              </a:ext>
            </a:extLst>
          </p:cNvPr>
          <p:cNvSpPr txBox="1"/>
          <p:nvPr/>
        </p:nvSpPr>
        <p:spPr>
          <a:xfrm>
            <a:off x="4763419" y="5946227"/>
            <a:ext cx="7223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00B050"/>
                </a:solidFill>
              </a:rPr>
              <a:t>“Event Tree and Fault Tree-type” Model -&gt; </a:t>
            </a:r>
          </a:p>
          <a:p>
            <a:pPr algn="ctr"/>
            <a:r>
              <a:rPr lang="en-US" altLang="ko-KR">
                <a:solidFill>
                  <a:srgbClr val="00B050"/>
                </a:solidFill>
              </a:rPr>
              <a:t>“Uni-Modal Bound(UMB) Approach-type Mathematical Expression”</a:t>
            </a:r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D2105E-C9A3-4241-B386-5974FE85AE8F}"/>
              </a:ext>
            </a:extLst>
          </p:cNvPr>
          <p:cNvSpPr/>
          <p:nvPr/>
        </p:nvSpPr>
        <p:spPr>
          <a:xfrm>
            <a:off x="718820" y="6151244"/>
            <a:ext cx="1109980" cy="18669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54F7DC-791B-4E56-A738-59F7FB35BC22}"/>
              </a:ext>
            </a:extLst>
          </p:cNvPr>
          <p:cNvCxnSpPr>
            <a:cxnSpLocks/>
          </p:cNvCxnSpPr>
          <p:nvPr/>
        </p:nvCxnSpPr>
        <p:spPr>
          <a:xfrm flipH="1">
            <a:off x="1868129" y="3464560"/>
            <a:ext cx="3211871" cy="266093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EE80785-D4D8-4B03-A9A6-D872BB8F7308}"/>
              </a:ext>
            </a:extLst>
          </p:cNvPr>
          <p:cNvCxnSpPr>
            <a:cxnSpLocks/>
          </p:cNvCxnSpPr>
          <p:nvPr/>
        </p:nvCxnSpPr>
        <p:spPr>
          <a:xfrm flipH="1">
            <a:off x="1999488" y="6278880"/>
            <a:ext cx="2871216" cy="2499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7F981F-C545-4C62-8282-00BCF87B9E23}"/>
              </a:ext>
            </a:extLst>
          </p:cNvPr>
          <p:cNvSpPr/>
          <p:nvPr/>
        </p:nvSpPr>
        <p:spPr>
          <a:xfrm>
            <a:off x="601678" y="6352032"/>
            <a:ext cx="1351884" cy="3478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4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680</Words>
  <Application>Microsoft Office PowerPoint</Application>
  <PresentationFormat>와이드스크린</PresentationFormat>
  <Paragraphs>65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Roboto</vt:lpstr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24</cp:revision>
  <dcterms:created xsi:type="dcterms:W3CDTF">2025-12-05T17:45:28Z</dcterms:created>
  <dcterms:modified xsi:type="dcterms:W3CDTF">2025-12-11T15:40:08Z</dcterms:modified>
</cp:coreProperties>
</file>